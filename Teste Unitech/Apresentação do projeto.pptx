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9" r:id="rId3"/>
    <p:sldId id="261" r:id="rId4"/>
    <p:sldId id="263" r:id="rId5"/>
    <p:sldId id="269" r:id="rId6"/>
    <p:sldId id="260" r:id="rId7"/>
    <p:sldId id="266" r:id="rId8"/>
    <p:sldId id="265" r:id="rId9"/>
    <p:sldId id="264" r:id="rId10"/>
    <p:sldId id="271" r:id="rId11"/>
    <p:sldId id="268" r:id="rId12"/>
    <p:sldId id="272" r:id="rId13"/>
    <p:sldId id="273" r:id="rId14"/>
    <p:sldId id="274" r:id="rId15"/>
    <p:sldId id="275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5" r:id="rId24"/>
    <p:sldId id="286" r:id="rId2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6"/>
  </p:normalViewPr>
  <p:slideViewPr>
    <p:cSldViewPr snapToGrid="0">
      <p:cViewPr>
        <p:scale>
          <a:sx n="85" d="100"/>
          <a:sy n="85" d="100"/>
        </p:scale>
        <p:origin x="408" y="10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5F566-CF7A-474B-AA36-FB0E670124FC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88CE3C-BF22-4F41-BEB1-7CC6D3DF05B7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9028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6AB776-FD82-AFCA-507D-7F33EF8DE7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88770-943D-1358-779D-DB1C0FA6CD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48EDA47-A80D-B52C-EA4D-E2F186C87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DC6241B-7AD1-4855-3D6C-E687091F3E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1C9998-810F-9127-4BCA-35BB38DAE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909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7ABC22-A1B9-555C-FC69-864D1DA0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38024A-3226-A268-9DFC-BB2AD5EC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1A9EB0-6BEB-E925-0F1E-4BF06BF972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3BE5C0A-FA76-370E-531E-F486F5AC3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0AEC0B-4F5B-B6EE-F64D-B926A0E5F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0232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FA88D6-6D1D-54BF-E00D-4DD32E5FDC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A30E416-BC64-0DC4-F096-5A4E730B5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D161C63-B1BB-5DE4-DFE6-F8391A791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5D574F5-89E3-368B-21D5-739B8D3E2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4C296D8-61A5-B4E3-4F0D-8EDBC7DC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786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19E6A-F566-2E86-2119-76CA395713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B240C77-A282-940D-11F7-E57C5BAC13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EEED512-6265-0B8E-F84E-ADEB1DEB6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F172E70-DAB5-7B79-61B3-6B066D959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B530DFE-A6EF-BCFF-12C5-26FBA9A41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5F5B52D-2042-A4CA-38D6-7809AECD30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827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EDACC9-9DDE-52D1-EB77-5DFE28765E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292099-11AB-4096-63D3-B9CF03353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8E2D193-BD2F-86A9-537F-F5F347CA58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1D4CEE4-4D8D-D8BC-09CC-670A149569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72293B-3453-2407-3D2C-E32FEE657D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C5E24FD-81E1-0EBC-A2D2-C30EDDC6D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370D840-E7FD-76C3-A903-8F27DE587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B00491-A484-3DAA-9100-5F2F6A600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0151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AF0549-E05D-857A-1BAD-C5D26EB21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44D9CE8-7BA1-0812-3547-56CE8EE3D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7F8CE29E-FD1C-0F35-D8E4-6BC709FEB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0E6CC7A-A8D9-42DB-249F-E878189C75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123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7DE03198-0F0A-3F10-2D43-1B4849721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3274AE0-3B7B-E8C6-3FDE-595E33A5E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76C514C-0F5E-70CB-44A7-1CD5C2F09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871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B0CFBE-8608-2274-0068-7DC4B92F1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56CF60E-6D76-DDDE-274E-27CEB7D7BD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C0F269-989E-9CE8-DAF3-A0020F127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B67A5DF-499F-0865-4104-8DC7EDA03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11092A-F341-2486-ED9F-DF9202D2D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B8D6B9-6946-A440-0B9E-DFC44DA0B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946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945D63-B426-5978-ADCE-33C66CFF2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0C44999D-6230-CA49-A972-7C89E9239C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A9D424D-7E4F-FB90-E06A-4B20D0056A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F437F5C-E2BE-7332-DF00-78566CF65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FE30E89-CD61-9801-32EA-DE44FB3DF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2330062-E177-CF8C-ADFB-0C5B06638A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1272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0B3CD0-9D71-7407-022D-F7A846B31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330CA5F-A235-BC8C-BDE0-11CF0373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7C80915-B2AD-EBE4-2C05-0F30D962A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DFC680-D0B3-3966-8BF5-FB033F02D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E3E596E-F65B-9AD6-37A8-955972670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3700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7FE46EC-B47A-BFEA-9762-5FB9945701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2B1E206-E9F6-ECEC-D7FA-E39C1072CD7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91C168-A203-4314-C924-9601E96FD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CB8B2E4-728E-CED5-A4C0-88577413F3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0C30221-ECBD-96CE-F9ED-A4ED4DB9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438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A2114A00-AC1F-AA07-1956-84BD8CC7A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B1DC80-1E5C-5571-56D0-FD4014DC0C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9D3C1A4-ADBA-885B-CA02-C4D7D29E4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C0CF02-BA0E-AE45-BE09-3CB31792BC05}" type="datetimeFigureOut">
              <a:rPr lang="en-US" smtClean="0"/>
              <a:t>9/6/25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33D15D-137C-5EC1-5EC9-BC988DBF8E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8DAC39-B4B0-9954-E0C1-B2DC6FCA8E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302BE-FB39-004A-BC87-77840652912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311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DF793E5-84F7-9385-4E8C-1B5B8EE65C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l"/>
            <a:r>
              <a:rPr lang="en-US" sz="4800" dirty="0" err="1">
                <a:solidFill>
                  <a:srgbClr val="FFFFFF"/>
                </a:solidFill>
              </a:rPr>
              <a:t>Projeto</a:t>
            </a:r>
            <a:r>
              <a:rPr lang="en-US" sz="4800" dirty="0">
                <a:solidFill>
                  <a:srgbClr val="FFFFFF"/>
                </a:solidFill>
              </a:rPr>
              <a:t>: </a:t>
            </a:r>
            <a:r>
              <a:rPr lang="en-US" sz="4800" dirty="0" err="1">
                <a:solidFill>
                  <a:srgbClr val="FFFFFF"/>
                </a:solidFill>
              </a:rPr>
              <a:t>Modelo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Predição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Preços</a:t>
            </a:r>
            <a:r>
              <a:rPr lang="en-US" sz="4800" dirty="0">
                <a:solidFill>
                  <a:srgbClr val="FFFFFF"/>
                </a:solidFill>
              </a:rPr>
              <a:t> de </a:t>
            </a:r>
            <a:r>
              <a:rPr lang="en-US" sz="4800" dirty="0" err="1">
                <a:solidFill>
                  <a:srgbClr val="FFFFFF"/>
                </a:solidFill>
              </a:rPr>
              <a:t>imóveis</a:t>
            </a:r>
            <a:endParaRPr lang="en-US" sz="4800" dirty="0">
              <a:solidFill>
                <a:srgbClr val="FFFFFF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5E3D68C-3660-6185-60A5-ED421C366E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1874" y="4797188"/>
            <a:ext cx="6051236" cy="1241828"/>
          </a:xfrm>
        </p:spPr>
        <p:txBody>
          <a:bodyPr>
            <a:normAutofit/>
          </a:bodyPr>
          <a:lstStyle/>
          <a:p>
            <a:pPr algn="l"/>
            <a:r>
              <a:rPr lang="en-US" dirty="0">
                <a:solidFill>
                  <a:srgbClr val="FFFFFF"/>
                </a:solidFill>
              </a:rPr>
              <a:t>Autor: Michel Gonzaga dos Santos </a:t>
            </a:r>
          </a:p>
          <a:p>
            <a:pPr algn="l"/>
            <a:r>
              <a:rPr lang="en-US" dirty="0" err="1">
                <a:solidFill>
                  <a:srgbClr val="FFFFFF"/>
                </a:solidFill>
              </a:rPr>
              <a:t>Cientista</a:t>
            </a:r>
            <a:r>
              <a:rPr lang="en-US" dirty="0">
                <a:solidFill>
                  <a:srgbClr val="FFFFFF"/>
                </a:solidFill>
              </a:rPr>
              <a:t> de Dados Pleno</a:t>
            </a:r>
          </a:p>
          <a:p>
            <a:pPr algn="r"/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462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0911F4C-5F08-6C48-5F0B-25AC00F9B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Contextualização</a:t>
            </a:r>
            <a:r>
              <a:rPr lang="en-US" sz="4000" dirty="0">
                <a:solidFill>
                  <a:srgbClr val="FFFFFF"/>
                </a:solidFill>
              </a:rPr>
              <a:t> do </a:t>
            </a:r>
            <a:r>
              <a:rPr lang="en-US" sz="4000" dirty="0" err="1">
                <a:solidFill>
                  <a:srgbClr val="FFFFFF"/>
                </a:solidFill>
              </a:rPr>
              <a:t>problema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AF015B-62A0-99C0-7558-7D6D6343B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Cenário </a:t>
            </a:r>
            <a:r>
              <a:rPr lang="en-US" sz="2000" b="1" dirty="0" err="1"/>
              <a:t>inicial</a:t>
            </a:r>
            <a:r>
              <a:rPr lang="en-US" sz="2000" dirty="0"/>
              <a:t>: </a:t>
            </a:r>
          </a:p>
          <a:p>
            <a:pPr lvl="1"/>
            <a:r>
              <a:rPr lang="en-US" sz="1600" dirty="0"/>
              <a:t>Dados </a:t>
            </a:r>
            <a:r>
              <a:rPr lang="en-US" sz="1600" dirty="0" err="1"/>
              <a:t>históricos</a:t>
            </a:r>
            <a:r>
              <a:rPr lang="en-US" sz="1600" dirty="0"/>
              <a:t> de </a:t>
            </a:r>
            <a:r>
              <a:rPr lang="en-US" sz="1600" dirty="0" err="1"/>
              <a:t>preços</a:t>
            </a:r>
            <a:r>
              <a:rPr lang="en-US" sz="1600" dirty="0"/>
              <a:t> de </a:t>
            </a:r>
            <a:r>
              <a:rPr lang="en-US" sz="1600" dirty="0" err="1"/>
              <a:t>imóveis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Boston.</a:t>
            </a:r>
          </a:p>
          <a:p>
            <a:pPr lvl="1"/>
            <a:r>
              <a:rPr lang="en-US" sz="1600" b="1" dirty="0"/>
              <a:t>Para </a:t>
            </a:r>
            <a:r>
              <a:rPr lang="en-US" sz="1600" b="1" dirty="0" err="1"/>
              <a:t>cada</a:t>
            </a:r>
            <a:r>
              <a:rPr lang="en-US" sz="1600" b="1" dirty="0"/>
              <a:t> </a:t>
            </a:r>
            <a:r>
              <a:rPr lang="en-US" sz="1600" b="1" dirty="0" err="1"/>
              <a:t>registro</a:t>
            </a:r>
            <a:r>
              <a:rPr lang="en-US" sz="1600" dirty="0"/>
              <a:t>: </a:t>
            </a:r>
            <a:r>
              <a:rPr lang="en-US" sz="1600" dirty="0" err="1"/>
              <a:t>indicadores</a:t>
            </a:r>
            <a:r>
              <a:rPr lang="en-US" sz="1600" dirty="0"/>
              <a:t> </a:t>
            </a:r>
            <a:r>
              <a:rPr lang="en-US" sz="1600" dirty="0" err="1"/>
              <a:t>socieconômicos</a:t>
            </a:r>
            <a:r>
              <a:rPr lang="en-US" sz="1600" dirty="0"/>
              <a:t>, </a:t>
            </a:r>
            <a:r>
              <a:rPr lang="en-US" sz="1600" dirty="0" err="1"/>
              <a:t>características</a:t>
            </a:r>
            <a:r>
              <a:rPr lang="en-US" sz="1600" dirty="0"/>
              <a:t> </a:t>
            </a:r>
            <a:r>
              <a:rPr lang="en-US" sz="1600" dirty="0" err="1"/>
              <a:t>físicas</a:t>
            </a:r>
            <a:r>
              <a:rPr lang="en-US" sz="1600" dirty="0"/>
              <a:t> dos </a:t>
            </a:r>
            <a:r>
              <a:rPr lang="en-US" sz="1600" dirty="0" err="1"/>
              <a:t>imóvies</a:t>
            </a:r>
            <a:r>
              <a:rPr lang="en-US" sz="1600" dirty="0"/>
              <a:t>, </a:t>
            </a:r>
            <a:r>
              <a:rPr lang="en-US" sz="1600" dirty="0" err="1"/>
              <a:t>variáveis</a:t>
            </a:r>
            <a:r>
              <a:rPr lang="en-US" sz="1600" dirty="0"/>
              <a:t> </a:t>
            </a:r>
            <a:r>
              <a:rPr lang="en-US" sz="1600" dirty="0" err="1"/>
              <a:t>geográficas</a:t>
            </a:r>
            <a:r>
              <a:rPr lang="en-US" sz="1600" dirty="0"/>
              <a:t>.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sz="2000" b="1" dirty="0" err="1"/>
              <a:t>Motivação</a:t>
            </a:r>
            <a:r>
              <a:rPr lang="en-US" sz="2000" dirty="0"/>
              <a:t>: </a:t>
            </a:r>
          </a:p>
          <a:p>
            <a:pPr lvl="1"/>
            <a:r>
              <a:rPr lang="pt-BR" sz="1600" dirty="0"/>
              <a:t>Central para decisões no mercado imobiliário</a:t>
            </a:r>
          </a:p>
          <a:p>
            <a:pPr lvl="1"/>
            <a:r>
              <a:rPr lang="pt-BR" sz="1600" b="1" dirty="0"/>
              <a:t>Consumidor final</a:t>
            </a:r>
            <a:r>
              <a:rPr lang="pt-BR" sz="1600" dirty="0"/>
              <a:t>: auxilia na escolha do imóvel adequado à realidade financeira</a:t>
            </a:r>
          </a:p>
          <a:p>
            <a:pPr lvl="1"/>
            <a:r>
              <a:rPr lang="pt-BR" sz="1600" b="1" dirty="0"/>
              <a:t>Investidores</a:t>
            </a:r>
            <a:r>
              <a:rPr lang="pt-BR" sz="1600" dirty="0"/>
              <a:t>: apoia avaliação de rentabilidade, reduz riscos e aumenta confiança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95049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F69917-2DFF-087F-4677-34318F307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Framework Técnico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02875E3-4A29-CB9C-E141-8177417920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 dirty="0" err="1"/>
              <a:t>Linguagem</a:t>
            </a:r>
            <a:r>
              <a:rPr lang="en-US" sz="2000" b="1" dirty="0"/>
              <a:t> de </a:t>
            </a:r>
            <a:r>
              <a:rPr lang="en-US" sz="2000" b="1" dirty="0" err="1"/>
              <a:t>Programação</a:t>
            </a:r>
            <a:r>
              <a:rPr lang="en-US" sz="2000" dirty="0"/>
              <a:t>: </a:t>
            </a:r>
          </a:p>
          <a:p>
            <a:pPr lvl="1"/>
            <a:r>
              <a:rPr lang="en-US" sz="1600" dirty="0"/>
              <a:t>Python (</a:t>
            </a:r>
            <a:r>
              <a:rPr lang="en-US" sz="1600" dirty="0" err="1"/>
              <a:t>versão</a:t>
            </a:r>
            <a:r>
              <a:rPr lang="en-US" sz="1600" dirty="0"/>
              <a:t> 3.12.5)</a:t>
            </a:r>
          </a:p>
          <a:p>
            <a:r>
              <a:rPr lang="en-US" sz="2000" b="1" dirty="0" err="1"/>
              <a:t>Bibliotecas</a:t>
            </a:r>
            <a:r>
              <a:rPr lang="en-US" sz="2000" b="1" dirty="0"/>
              <a:t> </a:t>
            </a:r>
            <a:r>
              <a:rPr lang="en-US" sz="2000" b="1" dirty="0" err="1"/>
              <a:t>Utilizadas</a:t>
            </a:r>
            <a:r>
              <a:rPr lang="en-US" sz="2000" dirty="0"/>
              <a:t>:</a:t>
            </a:r>
          </a:p>
          <a:p>
            <a:pPr lvl="1"/>
            <a:r>
              <a:rPr lang="en-US" sz="1600" dirty="0"/>
              <a:t>Pandas (</a:t>
            </a:r>
            <a:r>
              <a:rPr lang="en-US" sz="1600" dirty="0" err="1"/>
              <a:t>versão</a:t>
            </a:r>
            <a:r>
              <a:rPr lang="en-US" sz="1600" dirty="0"/>
              <a:t> 2.3.2)</a:t>
            </a:r>
          </a:p>
          <a:p>
            <a:pPr lvl="1"/>
            <a:r>
              <a:rPr lang="en-US" sz="1600" dirty="0" err="1"/>
              <a:t>Matplotilib</a:t>
            </a:r>
            <a:r>
              <a:rPr lang="en-US" sz="1600" dirty="0"/>
              <a:t> (</a:t>
            </a:r>
            <a:r>
              <a:rPr lang="en-US" sz="1600" dirty="0" err="1"/>
              <a:t>versão</a:t>
            </a:r>
            <a:r>
              <a:rPr lang="en-US" sz="1600" dirty="0"/>
              <a:t> 3.10.6)</a:t>
            </a:r>
          </a:p>
          <a:p>
            <a:pPr lvl="1"/>
            <a:r>
              <a:rPr lang="en-US" sz="1600" dirty="0" err="1"/>
              <a:t>Numpy</a:t>
            </a:r>
            <a:r>
              <a:rPr lang="en-US" sz="1600" dirty="0"/>
              <a:t> (</a:t>
            </a:r>
            <a:r>
              <a:rPr lang="en-US" sz="1600" dirty="0" err="1"/>
              <a:t>versão</a:t>
            </a:r>
            <a:r>
              <a:rPr lang="en-US" sz="1600" dirty="0"/>
              <a:t> 1.7.1)</a:t>
            </a:r>
          </a:p>
          <a:p>
            <a:pPr lvl="1"/>
            <a:r>
              <a:rPr lang="en-US" sz="1600" dirty="0"/>
              <a:t>Scikit-learn (</a:t>
            </a:r>
            <a:r>
              <a:rPr lang="en-US" sz="1600" dirty="0" err="1"/>
              <a:t>versão</a:t>
            </a:r>
            <a:r>
              <a:rPr lang="en-US" sz="1600" dirty="0"/>
              <a:t> 0.13.2)</a:t>
            </a:r>
          </a:p>
          <a:p>
            <a:pPr lvl="1"/>
            <a:r>
              <a:rPr lang="en-US" sz="1600" dirty="0"/>
              <a:t>Seaborn (</a:t>
            </a:r>
            <a:r>
              <a:rPr lang="en-US" sz="1600" dirty="0" err="1"/>
              <a:t>versão</a:t>
            </a:r>
            <a:r>
              <a:rPr lang="en-US" sz="1600" dirty="0"/>
              <a:t> 2.3.2)</a:t>
            </a:r>
          </a:p>
          <a:p>
            <a:pPr lvl="1"/>
            <a:r>
              <a:rPr lang="en-US" sz="1600" dirty="0"/>
              <a:t>Logging (</a:t>
            </a:r>
            <a:r>
              <a:rPr lang="en-US" sz="1600" dirty="0" err="1"/>
              <a:t>versão</a:t>
            </a:r>
            <a:r>
              <a:rPr lang="en-US" sz="1600" dirty="0"/>
              <a:t> 0.5.1.2)</a:t>
            </a:r>
          </a:p>
          <a:p>
            <a:endParaRPr lang="en-US" sz="2000" dirty="0"/>
          </a:p>
        </p:txBody>
      </p:sp>
      <p:pic>
        <p:nvPicPr>
          <p:cNvPr id="1026" name="Picture 2" descr="Python, o que é ? Vagas e salários - lginfo - soluções">
            <a:extLst>
              <a:ext uri="{FF2B5EF4-FFF2-40B4-BE49-F238E27FC236}">
                <a16:creationId xmlns:a16="http://schemas.microsoft.com/office/drawing/2014/main" id="{7672023E-FEC4-B447-34AB-0E7ACE3EB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3525" y="1868964"/>
            <a:ext cx="2295276" cy="1291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andas (software) – Wikipédia, a enciclopédia livre">
            <a:extLst>
              <a:ext uri="{FF2B5EF4-FFF2-40B4-BE49-F238E27FC236}">
                <a16:creationId xmlns:a16="http://schemas.microsoft.com/office/drawing/2014/main" id="{B3A79353-225A-4E92-F1CA-7727C39CE6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5299" y="1895803"/>
            <a:ext cx="2417258" cy="97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Customising figures in Matplotlib">
            <a:extLst>
              <a:ext uri="{FF2B5EF4-FFF2-40B4-BE49-F238E27FC236}">
                <a16:creationId xmlns:a16="http://schemas.microsoft.com/office/drawing/2014/main" id="{6D4871DF-E316-5C87-A5E8-E687B2565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85555" y="3219086"/>
            <a:ext cx="2417258" cy="801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0" name="Picture 16" descr="NumPy - Installing NumPy">
            <a:extLst>
              <a:ext uri="{FF2B5EF4-FFF2-40B4-BE49-F238E27FC236}">
                <a16:creationId xmlns:a16="http://schemas.microsoft.com/office/drawing/2014/main" id="{E29C3EA7-970D-DAE7-B0E0-E7D55D8760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57546" y="2710539"/>
            <a:ext cx="1151457" cy="1151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 descr="scikit-learn – Wikipédia, a enciclopédia livre">
            <a:extLst>
              <a:ext uri="{FF2B5EF4-FFF2-40B4-BE49-F238E27FC236}">
                <a16:creationId xmlns:a16="http://schemas.microsoft.com/office/drawing/2014/main" id="{1A884EB7-76D6-4884-C9E8-6E2475D6AF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8983" y="3942728"/>
            <a:ext cx="1728122" cy="9331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The Most Used Seaborn Methods">
            <a:extLst>
              <a:ext uri="{FF2B5EF4-FFF2-40B4-BE49-F238E27FC236}">
                <a16:creationId xmlns:a16="http://schemas.microsoft.com/office/drawing/2014/main" id="{D4AB4768-B3DE-F4E2-2808-5CEEF99DB6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31" y="3861996"/>
            <a:ext cx="960639" cy="1163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6460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05ED92-047A-8DD2-4C00-38E097020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5AAD6C-C76E-82B0-EC89-B22C26ACC6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B364CF-DC1F-3AF8-8F8C-AF626A046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55D4CA4-1C02-1B07-1E0E-20B42C208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C47362E-FC28-1F6B-5105-D6046DC56A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C4F6AF0-1BA3-7DBC-7B0F-E3AF70801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E59CB57-57E1-BBDC-57E2-D1ABD2774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Fluxo</a:t>
            </a:r>
            <a:r>
              <a:rPr lang="en-US" sz="4000" dirty="0">
                <a:solidFill>
                  <a:srgbClr val="FFFFFF"/>
                </a:solidFill>
              </a:rPr>
              <a:t> do </a:t>
            </a:r>
            <a:r>
              <a:rPr lang="en-US" sz="4000" dirty="0" err="1">
                <a:solidFill>
                  <a:srgbClr val="FFFFFF"/>
                </a:solidFill>
              </a:rPr>
              <a:t>Projeto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E7C778DD-5724-3C93-BE10-904F7448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234" y="3061212"/>
            <a:ext cx="10461531" cy="735576"/>
          </a:xfrm>
          <a:prstGeom prst="rect">
            <a:avLst/>
          </a:prstGeom>
        </p:spPr>
      </p:pic>
      <p:sp>
        <p:nvSpPr>
          <p:cNvPr id="32" name="Chave Esquerda 31">
            <a:extLst>
              <a:ext uri="{FF2B5EF4-FFF2-40B4-BE49-F238E27FC236}">
                <a16:creationId xmlns:a16="http://schemas.microsoft.com/office/drawing/2014/main" id="{5191E0AD-A0FA-36C0-993D-688503DEA89B}"/>
              </a:ext>
            </a:extLst>
          </p:cNvPr>
          <p:cNvSpPr/>
          <p:nvPr/>
        </p:nvSpPr>
        <p:spPr>
          <a:xfrm>
            <a:off x="622985" y="4016643"/>
            <a:ext cx="418013" cy="221434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519A5F0A-2EC0-2ACB-6DD8-A797CB39B6FC}"/>
              </a:ext>
            </a:extLst>
          </p:cNvPr>
          <p:cNvSpPr txBox="1"/>
          <p:nvPr/>
        </p:nvSpPr>
        <p:spPr>
          <a:xfrm>
            <a:off x="864578" y="4065510"/>
            <a:ext cx="3407256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Identificação</a:t>
            </a:r>
            <a:r>
              <a:rPr lang="en-US" sz="1400" dirty="0"/>
              <a:t> dos </a:t>
            </a:r>
            <a:r>
              <a:rPr lang="en-US" sz="1400" dirty="0" err="1"/>
              <a:t>tipos</a:t>
            </a:r>
            <a:r>
              <a:rPr lang="en-US" sz="1400" dirty="0"/>
              <a:t> de dados.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Contagem</a:t>
            </a:r>
            <a:r>
              <a:rPr lang="en-US" sz="1400" dirty="0"/>
              <a:t> de </a:t>
            </a:r>
            <a:r>
              <a:rPr lang="en-US" sz="1400" dirty="0" err="1"/>
              <a:t>valores</a:t>
            </a:r>
            <a:r>
              <a:rPr lang="en-US" sz="1400" dirty="0"/>
              <a:t> </a:t>
            </a:r>
            <a:r>
              <a:rPr lang="en-US" sz="1400" dirty="0" err="1"/>
              <a:t>nulos</a:t>
            </a:r>
            <a:r>
              <a:rPr lang="en-US" sz="1400" dirty="0"/>
              <a:t> </a:t>
            </a:r>
            <a:r>
              <a:rPr lang="en-US" sz="1400" dirty="0" err="1"/>
              <a:t>por</a:t>
            </a:r>
            <a:r>
              <a:rPr lang="en-US" sz="1400" dirty="0"/>
              <a:t> </a:t>
            </a:r>
            <a:r>
              <a:rPr lang="en-US" sz="1400" dirty="0" err="1"/>
              <a:t>variável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Correlação</a:t>
            </a:r>
            <a:r>
              <a:rPr lang="en-US" sz="1400" dirty="0"/>
              <a:t> entre as </a:t>
            </a:r>
            <a:r>
              <a:rPr lang="en-US" sz="1400" dirty="0" err="1"/>
              <a:t>variáveis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Distribuição</a:t>
            </a:r>
            <a:r>
              <a:rPr lang="en-US" sz="1400" dirty="0"/>
              <a:t> da </a:t>
            </a:r>
            <a:r>
              <a:rPr lang="en-US" sz="1400" dirty="0" err="1"/>
              <a:t>variável</a:t>
            </a:r>
            <a:r>
              <a:rPr lang="en-US" sz="1400" dirty="0"/>
              <a:t> </a:t>
            </a:r>
            <a:r>
              <a:rPr lang="en-US" sz="1400" dirty="0" err="1"/>
              <a:t>alvo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Identificação</a:t>
            </a:r>
            <a:r>
              <a:rPr lang="en-US" sz="1400" dirty="0"/>
              <a:t> dos pares de </a:t>
            </a:r>
            <a:r>
              <a:rPr lang="en-US" sz="1400" dirty="0" err="1"/>
              <a:t>variáveis</a:t>
            </a:r>
            <a:r>
              <a:rPr lang="en-US" sz="1400" dirty="0"/>
              <a:t> </a:t>
            </a:r>
            <a:r>
              <a:rPr lang="en-US" sz="1400" dirty="0" err="1"/>
              <a:t>mais</a:t>
            </a:r>
            <a:r>
              <a:rPr lang="en-US" sz="1400" dirty="0"/>
              <a:t> </a:t>
            </a:r>
            <a:r>
              <a:rPr lang="en-US" sz="1400" dirty="0" err="1"/>
              <a:t>correlacionas</a:t>
            </a:r>
            <a:r>
              <a:rPr lang="en-US" sz="1400" dirty="0"/>
              <a:t> entre </a:t>
            </a:r>
            <a:r>
              <a:rPr lang="en-US" sz="1400" dirty="0" err="1"/>
              <a:t>si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Indentificação</a:t>
            </a:r>
            <a:r>
              <a:rPr lang="en-US" sz="1400" dirty="0"/>
              <a:t> de </a:t>
            </a:r>
            <a:r>
              <a:rPr lang="en-US" sz="1400" dirty="0" err="1"/>
              <a:t>varáveis</a:t>
            </a:r>
            <a:r>
              <a:rPr lang="en-US" sz="1400" dirty="0"/>
              <a:t> </a:t>
            </a:r>
            <a:r>
              <a:rPr lang="en-US" sz="1400" dirty="0" err="1"/>
              <a:t>altamente</a:t>
            </a:r>
            <a:r>
              <a:rPr lang="en-US" sz="1400" dirty="0"/>
              <a:t> </a:t>
            </a:r>
            <a:r>
              <a:rPr lang="en-US" sz="1400" dirty="0" err="1"/>
              <a:t>concentradas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Identificação</a:t>
            </a:r>
            <a:r>
              <a:rPr lang="en-US" sz="1400" dirty="0"/>
              <a:t> e </a:t>
            </a:r>
            <a:r>
              <a:rPr lang="en-US" sz="1400" dirty="0" err="1"/>
              <a:t>remoção</a:t>
            </a:r>
            <a:r>
              <a:rPr lang="en-US" sz="1400" dirty="0"/>
              <a:t> de </a:t>
            </a:r>
            <a:r>
              <a:rPr lang="en-US" sz="1400" dirty="0" err="1"/>
              <a:t>ouliers</a:t>
            </a:r>
            <a:r>
              <a:rPr lang="en-US" sz="14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4" name="Chave Esquerda 33">
            <a:extLst>
              <a:ext uri="{FF2B5EF4-FFF2-40B4-BE49-F238E27FC236}">
                <a16:creationId xmlns:a16="http://schemas.microsoft.com/office/drawing/2014/main" id="{F105B2C2-25AE-BEB1-BBF7-AA6945F6F295}"/>
              </a:ext>
            </a:extLst>
          </p:cNvPr>
          <p:cNvSpPr/>
          <p:nvPr/>
        </p:nvSpPr>
        <p:spPr>
          <a:xfrm>
            <a:off x="4216494" y="4065509"/>
            <a:ext cx="418013" cy="1616833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2BE75AAB-980C-3ACE-9491-3DE75F87E43A}"/>
              </a:ext>
            </a:extLst>
          </p:cNvPr>
          <p:cNvSpPr txBox="1"/>
          <p:nvPr/>
        </p:nvSpPr>
        <p:spPr>
          <a:xfrm>
            <a:off x="4463421" y="3965984"/>
            <a:ext cx="275846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Filtro</a:t>
            </a:r>
            <a:r>
              <a:rPr lang="en-US" sz="1400" dirty="0"/>
              <a:t> de </a:t>
            </a:r>
            <a:r>
              <a:rPr lang="en-US" sz="1400" dirty="0" err="1"/>
              <a:t>correlação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Filtro</a:t>
            </a:r>
            <a:r>
              <a:rPr lang="en-US" sz="1400" dirty="0"/>
              <a:t> de </a:t>
            </a:r>
            <a:r>
              <a:rPr lang="en-US" sz="1400" dirty="0" err="1"/>
              <a:t>constância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Filtro</a:t>
            </a:r>
            <a:r>
              <a:rPr lang="en-US" sz="1400" dirty="0"/>
              <a:t> </a:t>
            </a:r>
            <a:r>
              <a:rPr lang="en-US" sz="1400" dirty="0" err="1"/>
              <a:t>Julgamental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Transformação</a:t>
            </a:r>
            <a:r>
              <a:rPr lang="en-US" sz="1400" dirty="0"/>
              <a:t> de </a:t>
            </a:r>
            <a:r>
              <a:rPr lang="en-US" sz="1400" dirty="0" err="1"/>
              <a:t>variáveis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Criação</a:t>
            </a:r>
            <a:r>
              <a:rPr lang="en-US" sz="1400" dirty="0"/>
              <a:t> de nova </a:t>
            </a:r>
            <a:r>
              <a:rPr lang="en-US" sz="1400" dirty="0" err="1"/>
              <a:t>variáveis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Escalonamento</a:t>
            </a:r>
            <a:r>
              <a:rPr lang="en-US" sz="1400" dirty="0"/>
              <a:t> das </a:t>
            </a:r>
            <a:r>
              <a:rPr lang="en-US" sz="1400" dirty="0" err="1"/>
              <a:t>variáveis</a:t>
            </a:r>
            <a:r>
              <a:rPr lang="en-US" sz="1400" dirty="0"/>
              <a:t> resultants.</a:t>
            </a:r>
          </a:p>
        </p:txBody>
      </p:sp>
      <p:sp>
        <p:nvSpPr>
          <p:cNvPr id="36" name="Chave Esquerda 35">
            <a:extLst>
              <a:ext uri="{FF2B5EF4-FFF2-40B4-BE49-F238E27FC236}">
                <a16:creationId xmlns:a16="http://schemas.microsoft.com/office/drawing/2014/main" id="{4DC98C20-C5DB-5812-28D1-CACC07C310CB}"/>
              </a:ext>
            </a:extLst>
          </p:cNvPr>
          <p:cNvSpPr/>
          <p:nvPr/>
        </p:nvSpPr>
        <p:spPr>
          <a:xfrm>
            <a:off x="7127971" y="3878272"/>
            <a:ext cx="418013" cy="84151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54A8454-6D1E-61CD-766E-8B1203463238}"/>
              </a:ext>
            </a:extLst>
          </p:cNvPr>
          <p:cNvSpPr txBox="1"/>
          <p:nvPr/>
        </p:nvSpPr>
        <p:spPr>
          <a:xfrm>
            <a:off x="7371811" y="3765684"/>
            <a:ext cx="27584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Escolha</a:t>
            </a:r>
            <a:r>
              <a:rPr lang="en-US" sz="1400" dirty="0"/>
              <a:t> do </a:t>
            </a:r>
            <a:r>
              <a:rPr lang="en-US" sz="1400" dirty="0" err="1"/>
              <a:t>modelo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RFE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Treinamento</a:t>
            </a:r>
            <a:r>
              <a:rPr lang="en-US" sz="1400" dirty="0"/>
              <a:t> do </a:t>
            </a:r>
            <a:r>
              <a:rPr lang="en-US" sz="1400" dirty="0" err="1"/>
              <a:t>modelo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63122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2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01ABF6B-EEFE-6ED5-B254-9FE3A7881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 err="1">
                <a:solidFill>
                  <a:srgbClr val="FFFFFF"/>
                </a:solidFill>
              </a:rPr>
              <a:t>Exploração</a:t>
            </a:r>
            <a:r>
              <a:rPr lang="en-US" sz="4800" dirty="0">
                <a:solidFill>
                  <a:srgbClr val="FFFFFF"/>
                </a:solidFill>
              </a:rPr>
              <a:t> dos Dados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224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3E9810-51B4-CA48-0D8F-5E159A0E0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DAD5AA37-0254-3613-4F25-1EB68955F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2C5BD-7D57-9DD5-DB3A-148AEC0325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753282F8-0FDE-9957-9AAF-EF43FC242B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B224F44-1613-97A7-3A76-D1CCB88B7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B9824BB-D985-E273-B6D3-D60DE69AEC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C023E8-1B21-8981-25B6-E4B46D2D5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Entendimento</a:t>
            </a:r>
            <a:r>
              <a:rPr lang="en-US" sz="4000" dirty="0">
                <a:solidFill>
                  <a:srgbClr val="FFFFFF"/>
                </a:solidFill>
              </a:rPr>
              <a:t>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915867-4093-4D85-2406-6A1BF2D51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5470265" cy="3683358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Base de dados</a:t>
            </a:r>
            <a:r>
              <a:rPr lang="en-US" sz="2000" dirty="0"/>
              <a:t>: </a:t>
            </a:r>
          </a:p>
          <a:p>
            <a:pPr lvl="1"/>
            <a:r>
              <a:rPr lang="en-US" sz="1600" dirty="0"/>
              <a:t>Boston Housing</a:t>
            </a:r>
          </a:p>
          <a:p>
            <a:pPr lvl="1"/>
            <a:r>
              <a:rPr lang="en-US" sz="1600" b="1" dirty="0" err="1"/>
              <a:t>Origem</a:t>
            </a:r>
            <a:r>
              <a:rPr lang="en-US" sz="1600" dirty="0" err="1"/>
              <a:t>:https</a:t>
            </a:r>
            <a:r>
              <a:rPr lang="en-US" sz="1600" dirty="0"/>
              <a:t>://</a:t>
            </a:r>
            <a:r>
              <a:rPr lang="en-US" sz="1600" dirty="0" err="1"/>
              <a:t>www.kaggle.com</a:t>
            </a:r>
            <a:r>
              <a:rPr lang="en-US" sz="1600" dirty="0"/>
              <a:t>/datasets/</a:t>
            </a:r>
            <a:r>
              <a:rPr lang="en-US" sz="1600" dirty="0" err="1"/>
              <a:t>altavish</a:t>
            </a:r>
            <a:r>
              <a:rPr lang="en-US" sz="1600" dirty="0"/>
              <a:t>/</a:t>
            </a:r>
            <a:r>
              <a:rPr lang="en-US" sz="1600" dirty="0" err="1"/>
              <a:t>boston</a:t>
            </a:r>
            <a:r>
              <a:rPr lang="en-US" sz="1600" dirty="0"/>
              <a:t>-housing-dataset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sz="2000" b="1" dirty="0" err="1"/>
              <a:t>Variáveis</a:t>
            </a:r>
            <a:r>
              <a:rPr lang="en-US" sz="2000" b="1" dirty="0"/>
              <a:t> </a:t>
            </a:r>
            <a:r>
              <a:rPr lang="en-US" sz="2000" b="1" dirty="0" err="1"/>
              <a:t>Socieconômicas</a:t>
            </a:r>
            <a:r>
              <a:rPr lang="en-US" sz="2000" b="1" dirty="0"/>
              <a:t>/</a:t>
            </a:r>
            <a:r>
              <a:rPr lang="en-US" sz="2000" b="1" dirty="0" err="1"/>
              <a:t>Demográficas</a:t>
            </a:r>
            <a:r>
              <a:rPr lang="en-US" sz="2000" dirty="0"/>
              <a:t>: CRIM, AGE, B, PTRATIO, LSTAT.</a:t>
            </a:r>
          </a:p>
          <a:p>
            <a:r>
              <a:rPr lang="en-US" sz="2000" b="1" dirty="0" err="1"/>
              <a:t>Indicadores</a:t>
            </a:r>
            <a:r>
              <a:rPr lang="en-US" sz="2000" b="1" dirty="0"/>
              <a:t> </a:t>
            </a:r>
            <a:r>
              <a:rPr lang="en-US" sz="2000" b="1" dirty="0" err="1"/>
              <a:t>Geográficos</a:t>
            </a:r>
            <a:r>
              <a:rPr lang="en-US" sz="2000" dirty="0"/>
              <a:t>: ZN, CHAS, NOX, DIS, RAD.</a:t>
            </a:r>
          </a:p>
          <a:p>
            <a:r>
              <a:rPr lang="en-US" sz="2000" b="1" dirty="0" err="1"/>
              <a:t>Variáveis</a:t>
            </a:r>
            <a:r>
              <a:rPr lang="en-US" sz="2000" b="1" dirty="0"/>
              <a:t> </a:t>
            </a:r>
            <a:r>
              <a:rPr lang="en-US" sz="2000" b="1" dirty="0" err="1"/>
              <a:t>Estruturais</a:t>
            </a:r>
            <a:r>
              <a:rPr lang="en-US" sz="2000" b="1" dirty="0"/>
              <a:t>/</a:t>
            </a:r>
            <a:r>
              <a:rPr lang="en-US" sz="2000" b="1" dirty="0" err="1"/>
              <a:t>Imobiliárias</a:t>
            </a:r>
            <a:r>
              <a:rPr lang="en-US" sz="2000" dirty="0"/>
              <a:t>: INDUS, RM, TAX, MEDV.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0CC1A3B-227D-FA93-93F3-BA777A174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4454" y="2267081"/>
            <a:ext cx="5162745" cy="3467865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00AC1920-4615-7C2E-50BC-7EB364C3E189}"/>
              </a:ext>
            </a:extLst>
          </p:cNvPr>
          <p:cNvSpPr/>
          <p:nvPr/>
        </p:nvSpPr>
        <p:spPr>
          <a:xfrm flipV="1">
            <a:off x="6763783" y="5339495"/>
            <a:ext cx="5120542" cy="3781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640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0B0F0F-C0F8-5E7F-1AC0-E247A02A25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0FF16FF-6995-84C7-FECD-387F078F47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598D331-40AD-B6DC-5EC6-D24EBF1132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66FB6B9-2950-1C59-31E4-6A2C468EC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D1C0C2-8D6C-0BB9-1F79-BA837D9F29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554E81E-3C69-C4A1-A839-497FFCCBE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6F4EFB9-0A05-4EBD-31CB-C040D0D862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Desafios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Encontrados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33337C-B66F-1DD1-F01C-4F08C5AFDC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b="1" dirty="0" err="1"/>
              <a:t>Principais</a:t>
            </a:r>
            <a:r>
              <a:rPr lang="en-US" sz="2000" b="1" dirty="0"/>
              <a:t> </a:t>
            </a:r>
            <a:r>
              <a:rPr lang="en-US" sz="2000" b="1" dirty="0" err="1"/>
              <a:t>desafios</a:t>
            </a:r>
            <a:r>
              <a:rPr lang="en-US" sz="2000" dirty="0"/>
              <a:t>:</a:t>
            </a:r>
          </a:p>
          <a:p>
            <a:pPr lvl="1"/>
            <a:r>
              <a:rPr lang="en-US" sz="1600" dirty="0" err="1"/>
              <a:t>Poucos</a:t>
            </a:r>
            <a:r>
              <a:rPr lang="en-US" sz="1600" dirty="0"/>
              <a:t> </a:t>
            </a:r>
            <a:r>
              <a:rPr lang="en-US" sz="1600" dirty="0" err="1"/>
              <a:t>Registros</a:t>
            </a:r>
            <a:r>
              <a:rPr lang="en-US" sz="1600" dirty="0"/>
              <a:t> (</a:t>
            </a:r>
            <a:r>
              <a:rPr lang="en-US" sz="1600" dirty="0" err="1"/>
              <a:t>Apenas</a:t>
            </a:r>
            <a:r>
              <a:rPr lang="en-US" sz="1600" dirty="0"/>
              <a:t> 506).</a:t>
            </a:r>
          </a:p>
          <a:p>
            <a:pPr lvl="1"/>
            <a:r>
              <a:rPr lang="en-US" sz="1600" dirty="0" err="1"/>
              <a:t>Ausência</a:t>
            </a:r>
            <a:r>
              <a:rPr lang="en-US" sz="1600" dirty="0"/>
              <a:t> de </a:t>
            </a:r>
            <a:r>
              <a:rPr lang="en-US" sz="1600" dirty="0" err="1"/>
              <a:t>variáveis</a:t>
            </a:r>
            <a:r>
              <a:rPr lang="en-US" sz="1600" dirty="0"/>
              <a:t> que  </a:t>
            </a:r>
            <a:r>
              <a:rPr lang="en-US" sz="1600" dirty="0" err="1"/>
              <a:t>reflitam</a:t>
            </a:r>
            <a:r>
              <a:rPr lang="en-US" sz="1600" dirty="0"/>
              <a:t> à </a:t>
            </a:r>
            <a:r>
              <a:rPr lang="en-US" sz="1600" dirty="0" err="1"/>
              <a:t>inflação</a:t>
            </a:r>
            <a:r>
              <a:rPr lang="en-US" sz="1600" dirty="0"/>
              <a:t>.</a:t>
            </a:r>
          </a:p>
          <a:p>
            <a:pPr lvl="1"/>
            <a:r>
              <a:rPr lang="en-US" sz="1600" dirty="0"/>
              <a:t>Dados de 1978.</a:t>
            </a:r>
          </a:p>
          <a:p>
            <a:r>
              <a:rPr lang="en-US" sz="2000" b="1" dirty="0" err="1"/>
              <a:t>Consequências</a:t>
            </a:r>
            <a:r>
              <a:rPr lang="en-US" sz="2000" dirty="0"/>
              <a:t>:</a:t>
            </a:r>
          </a:p>
          <a:p>
            <a:pPr lvl="1"/>
            <a:r>
              <a:rPr lang="en-US" sz="1600" dirty="0"/>
              <a:t>Risco de </a:t>
            </a:r>
            <a:r>
              <a:rPr lang="en-US" sz="1600" dirty="0" err="1"/>
              <a:t>overffiting</a:t>
            </a:r>
            <a:r>
              <a:rPr lang="en-US" sz="1600" dirty="0"/>
              <a:t>.</a:t>
            </a:r>
          </a:p>
          <a:p>
            <a:pPr lvl="1"/>
            <a:r>
              <a:rPr lang="en-US" sz="1600" dirty="0" err="1"/>
              <a:t>Variações</a:t>
            </a:r>
            <a:r>
              <a:rPr lang="en-US" sz="1600" dirty="0"/>
              <a:t> </a:t>
            </a:r>
            <a:r>
              <a:rPr lang="en-US" sz="1600" dirty="0" err="1"/>
              <a:t>bruscas</a:t>
            </a:r>
            <a:r>
              <a:rPr lang="en-US" sz="1600" dirty="0"/>
              <a:t> </a:t>
            </a:r>
            <a:r>
              <a:rPr lang="en-US" sz="1600" dirty="0" err="1"/>
              <a:t>na</a:t>
            </a:r>
            <a:r>
              <a:rPr lang="en-US" sz="1600" dirty="0"/>
              <a:t> </a:t>
            </a:r>
            <a:r>
              <a:rPr lang="en-US" sz="1600" dirty="0" err="1"/>
              <a:t>inflação</a:t>
            </a:r>
            <a:r>
              <a:rPr lang="en-US" sz="1600" dirty="0"/>
              <a:t>, </a:t>
            </a:r>
            <a:r>
              <a:rPr lang="en-US" sz="1600" dirty="0" err="1"/>
              <a:t>resultariam</a:t>
            </a:r>
            <a:r>
              <a:rPr lang="en-US" sz="1600" dirty="0"/>
              <a:t> </a:t>
            </a:r>
            <a:r>
              <a:rPr lang="en-US" sz="1600" dirty="0" err="1"/>
              <a:t>em</a:t>
            </a:r>
            <a:r>
              <a:rPr lang="en-US" sz="1600" dirty="0"/>
              <a:t> </a:t>
            </a:r>
            <a:r>
              <a:rPr lang="en-US" sz="1600" dirty="0" err="1"/>
              <a:t>uma</a:t>
            </a:r>
            <a:r>
              <a:rPr lang="en-US" sz="1600" dirty="0"/>
              <a:t> </a:t>
            </a:r>
            <a:r>
              <a:rPr lang="en-US" sz="1600" dirty="0" err="1"/>
              <a:t>perdar</a:t>
            </a:r>
            <a:r>
              <a:rPr lang="en-US" sz="1600" dirty="0"/>
              <a:t> de performance.</a:t>
            </a:r>
          </a:p>
          <a:p>
            <a:pPr lvl="1"/>
            <a:r>
              <a:rPr lang="en-US" sz="1600" dirty="0"/>
              <a:t>O valor </a:t>
            </a:r>
            <a:r>
              <a:rPr lang="en-US" sz="1600" dirty="0" err="1"/>
              <a:t>máximo</a:t>
            </a:r>
            <a:r>
              <a:rPr lang="en-US" sz="1600" dirty="0"/>
              <a:t> da </a:t>
            </a:r>
            <a:r>
              <a:rPr lang="en-US" sz="1600" dirty="0" err="1"/>
              <a:t>variável</a:t>
            </a:r>
            <a:r>
              <a:rPr lang="en-US" sz="1600" dirty="0"/>
              <a:t> </a:t>
            </a:r>
            <a:r>
              <a:rPr lang="en-US" sz="1600" dirty="0" err="1"/>
              <a:t>alvo</a:t>
            </a:r>
            <a:r>
              <a:rPr lang="en-US" sz="1600" dirty="0"/>
              <a:t> </a:t>
            </a:r>
            <a:r>
              <a:rPr lang="en-US" sz="1600" dirty="0" err="1"/>
              <a:t>é</a:t>
            </a:r>
            <a:r>
              <a:rPr lang="en-US" sz="1600" dirty="0"/>
              <a:t> $50.000,00 (</a:t>
            </a:r>
            <a:r>
              <a:rPr lang="en-US" sz="1600" dirty="0" err="1"/>
              <a:t>em</a:t>
            </a:r>
            <a:r>
              <a:rPr lang="en-US" sz="1600" dirty="0"/>
              <a:t> 1978), </a:t>
            </a:r>
            <a:r>
              <a:rPr lang="en-US" sz="1600" dirty="0" err="1"/>
              <a:t>hoje</a:t>
            </a:r>
            <a:r>
              <a:rPr lang="en-US" sz="1600" dirty="0"/>
              <a:t> corrido pela </a:t>
            </a:r>
            <a:r>
              <a:rPr lang="en-US" sz="1600" dirty="0" err="1"/>
              <a:t>inflação</a:t>
            </a:r>
            <a:r>
              <a:rPr lang="en-US" sz="1600" dirty="0"/>
              <a:t> </a:t>
            </a:r>
            <a:r>
              <a:rPr lang="en-US" sz="1600" dirty="0" err="1"/>
              <a:t>esse</a:t>
            </a:r>
            <a:r>
              <a:rPr lang="en-US" sz="1600" dirty="0"/>
              <a:t> valor equivale a $258.438,40.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0B60962-1D14-2CE1-977B-4331274F0F38}"/>
              </a:ext>
            </a:extLst>
          </p:cNvPr>
          <p:cNvSpPr txBox="1"/>
          <p:nvPr/>
        </p:nvSpPr>
        <p:spPr>
          <a:xfrm>
            <a:off x="963561" y="6194130"/>
            <a:ext cx="9488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[1] Harrison, D. </a:t>
            </a:r>
            <a:r>
              <a:rPr lang="pt-BR" sz="1200" dirty="0" err="1"/>
              <a:t>and</a:t>
            </a:r>
            <a:r>
              <a:rPr lang="pt-BR" sz="1200" dirty="0"/>
              <a:t> </a:t>
            </a:r>
            <a:r>
              <a:rPr lang="pt-BR" sz="1200" dirty="0" err="1"/>
              <a:t>Rubinfeld</a:t>
            </a:r>
            <a:r>
              <a:rPr lang="pt-BR" sz="1200" dirty="0"/>
              <a:t>, D.L. “</a:t>
            </a:r>
            <a:r>
              <a:rPr lang="pt-BR" sz="1200" i="1" dirty="0" err="1"/>
              <a:t>Hedonic</a:t>
            </a:r>
            <a:r>
              <a:rPr lang="pt-BR" sz="1200" i="1" dirty="0"/>
              <a:t> </a:t>
            </a:r>
            <a:r>
              <a:rPr lang="pt-BR" sz="1200" i="1" dirty="0" err="1"/>
              <a:t>prices</a:t>
            </a:r>
            <a:r>
              <a:rPr lang="pt-BR" sz="1200" i="1" dirty="0"/>
              <a:t> </a:t>
            </a:r>
            <a:r>
              <a:rPr lang="pt-BR" sz="1200" i="1" dirty="0" err="1"/>
              <a:t>and</a:t>
            </a:r>
            <a:r>
              <a:rPr lang="pt-BR" sz="1200" i="1" dirty="0"/>
              <a:t> </a:t>
            </a:r>
            <a:r>
              <a:rPr lang="pt-BR" sz="1200" i="1" dirty="0" err="1"/>
              <a:t>the</a:t>
            </a:r>
            <a:r>
              <a:rPr lang="pt-BR" sz="1200" i="1" dirty="0"/>
              <a:t> </a:t>
            </a:r>
            <a:r>
              <a:rPr lang="pt-BR" sz="1200" i="1" dirty="0" err="1"/>
              <a:t>demand</a:t>
            </a:r>
            <a:r>
              <a:rPr lang="pt-BR" sz="1200" i="1" dirty="0"/>
              <a:t> for clean </a:t>
            </a:r>
            <a:r>
              <a:rPr lang="pt-BR" sz="1200" i="1" dirty="0" err="1"/>
              <a:t>air</a:t>
            </a:r>
            <a:r>
              <a:rPr lang="pt-BR" sz="1200" dirty="0"/>
              <a:t>”, J. </a:t>
            </a:r>
            <a:r>
              <a:rPr lang="pt-BR" sz="1200" dirty="0" err="1"/>
              <a:t>Environ</a:t>
            </a:r>
            <a:r>
              <a:rPr lang="pt-BR" sz="1200" dirty="0"/>
              <a:t>. </a:t>
            </a:r>
            <a:r>
              <a:rPr lang="pt-BR" sz="1200" dirty="0" err="1"/>
              <a:t>Economics</a:t>
            </a:r>
            <a:r>
              <a:rPr lang="pt-BR" sz="1200" dirty="0"/>
              <a:t> &amp; Management, vol.5, 81-102, 1978</a:t>
            </a:r>
            <a:endParaRPr lang="en-US" sz="1200" dirty="0"/>
          </a:p>
          <a:p>
            <a:r>
              <a:rPr lang="en-US" sz="1200" dirty="0"/>
              <a:t>[2] https://</a:t>
            </a:r>
            <a:r>
              <a:rPr lang="en-US" sz="1200" dirty="0" err="1"/>
              <a:t>data.bls.gov</a:t>
            </a:r>
            <a:r>
              <a:rPr lang="en-US" sz="1200" dirty="0"/>
              <a:t>/</a:t>
            </a:r>
            <a:r>
              <a:rPr lang="en-US" sz="1200" dirty="0" err="1"/>
              <a:t>cgi</a:t>
            </a:r>
            <a:r>
              <a:rPr lang="en-US" sz="1200" dirty="0"/>
              <a:t>-bin/cpicalc.pl?cost1=50000&amp;year1=197801&amp;year2=202507</a:t>
            </a:r>
          </a:p>
        </p:txBody>
      </p:sp>
    </p:spTree>
    <p:extLst>
      <p:ext uri="{BB962C8B-B14F-4D97-AF65-F5344CB8AC3E}">
        <p14:creationId xmlns:p14="http://schemas.microsoft.com/office/powerpoint/2010/main" val="812345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351F767-0DA1-8654-3F79-A62F6650A8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ADC389B-2A42-EC92-E157-BD908B9D7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59DFE4B-7A68-C138-05C2-53D1B3F02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B7E2115-20B5-0777-E05F-BC1D30B53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80D612-847B-C3FA-9B6E-DD5B43BB6B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063397-73E2-E718-A330-2DF8404914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9A682B8-3B3A-6890-35BA-A14C5132F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Análise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Exploratória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FB65815-891E-7189-7E0E-CF8394EB9A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29" y="1739549"/>
            <a:ext cx="5479054" cy="4766218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900735FA-660A-9334-05CC-15016A2FFF59}"/>
              </a:ext>
            </a:extLst>
          </p:cNvPr>
          <p:cNvSpPr/>
          <p:nvPr/>
        </p:nvSpPr>
        <p:spPr>
          <a:xfrm>
            <a:off x="1465229" y="1983036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B8D0EFA-8391-E483-E62F-8E787031D517}"/>
              </a:ext>
            </a:extLst>
          </p:cNvPr>
          <p:cNvSpPr/>
          <p:nvPr/>
        </p:nvSpPr>
        <p:spPr>
          <a:xfrm>
            <a:off x="2080339" y="1992215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DEEC4B6-CF62-0CE9-19B2-9A7DF8ABFC3A}"/>
              </a:ext>
            </a:extLst>
          </p:cNvPr>
          <p:cNvSpPr/>
          <p:nvPr/>
        </p:nvSpPr>
        <p:spPr>
          <a:xfrm>
            <a:off x="2708300" y="1992215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42C6659-D0E0-857C-BC36-419A2235650C}"/>
              </a:ext>
            </a:extLst>
          </p:cNvPr>
          <p:cNvSpPr/>
          <p:nvPr/>
        </p:nvSpPr>
        <p:spPr>
          <a:xfrm>
            <a:off x="3016773" y="1992215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C57ECD87-D65B-9DE2-1178-2EB9937052A6}"/>
              </a:ext>
            </a:extLst>
          </p:cNvPr>
          <p:cNvSpPr/>
          <p:nvPr/>
        </p:nvSpPr>
        <p:spPr>
          <a:xfrm>
            <a:off x="3314226" y="1992215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2A05F98-1464-51B3-E5C9-15811963CE97}"/>
              </a:ext>
            </a:extLst>
          </p:cNvPr>
          <p:cNvSpPr/>
          <p:nvPr/>
        </p:nvSpPr>
        <p:spPr>
          <a:xfrm>
            <a:off x="3622704" y="1992215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3E40515-6ADF-F5ED-B11D-E46B120791A7}"/>
              </a:ext>
            </a:extLst>
          </p:cNvPr>
          <p:cNvSpPr/>
          <p:nvPr/>
        </p:nvSpPr>
        <p:spPr>
          <a:xfrm>
            <a:off x="2080338" y="2587130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0BF406F-42F7-AEEF-5A5F-C2E57A16105C}"/>
              </a:ext>
            </a:extLst>
          </p:cNvPr>
          <p:cNvSpPr/>
          <p:nvPr/>
        </p:nvSpPr>
        <p:spPr>
          <a:xfrm>
            <a:off x="3016773" y="2598146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8E096C5-F32E-B9F8-FCCB-9CB71D60DD64}"/>
              </a:ext>
            </a:extLst>
          </p:cNvPr>
          <p:cNvSpPr/>
          <p:nvPr/>
        </p:nvSpPr>
        <p:spPr>
          <a:xfrm>
            <a:off x="2697279" y="3215089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EDBA5022-1531-4A74-B99A-B52E20C0BDA4}"/>
              </a:ext>
            </a:extLst>
          </p:cNvPr>
          <p:cNvSpPr/>
          <p:nvPr/>
        </p:nvSpPr>
        <p:spPr>
          <a:xfrm>
            <a:off x="3016771" y="3215087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CEBFD89-3636-B73C-89C5-686890550097}"/>
              </a:ext>
            </a:extLst>
          </p:cNvPr>
          <p:cNvSpPr/>
          <p:nvPr/>
        </p:nvSpPr>
        <p:spPr>
          <a:xfrm>
            <a:off x="3016773" y="3821019"/>
            <a:ext cx="297470" cy="275422"/>
          </a:xfrm>
          <a:prstGeom prst="ellipse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48F46F6-B5D2-F9EF-FC05-DCF017CE207E}"/>
              </a:ext>
            </a:extLst>
          </p:cNvPr>
          <p:cNvSpPr txBox="1"/>
          <p:nvPr/>
        </p:nvSpPr>
        <p:spPr>
          <a:xfrm>
            <a:off x="6305320" y="2042670"/>
            <a:ext cx="5666342" cy="1077218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 err="1"/>
              <a:t>Correlação</a:t>
            </a:r>
            <a:r>
              <a:rPr lang="en-US" sz="1600" dirty="0"/>
              <a:t> de Spearman: </a:t>
            </a:r>
            <a:r>
              <a:rPr lang="pt-BR" sz="1600" dirty="0"/>
              <a:t>mede a intensidade e a direção da relação </a:t>
            </a:r>
            <a:r>
              <a:rPr lang="pt-BR" sz="1600" b="1" dirty="0"/>
              <a:t>monotônica</a:t>
            </a:r>
            <a:r>
              <a:rPr lang="pt-BR" sz="1600" dirty="0"/>
              <a:t> entre duas variáveis, baseando-se nos postos (ranks) dos valores em vez dos valores brutos. Capaz de capturar relações não lineares.</a:t>
            </a:r>
            <a:endParaRPr lang="en-US" sz="1600" dirty="0"/>
          </a:p>
        </p:txBody>
      </p:sp>
      <p:pic>
        <p:nvPicPr>
          <p:cNvPr id="31" name="Imagem 30">
            <a:extLst>
              <a:ext uri="{FF2B5EF4-FFF2-40B4-BE49-F238E27FC236}">
                <a16:creationId xmlns:a16="http://schemas.microsoft.com/office/drawing/2014/main" id="{35603E59-EB27-F63C-4602-C1612BB63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3115" y="3628570"/>
            <a:ext cx="3032112" cy="2394929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C1F70CF9-5F37-D7D7-22AE-33F3F7FD53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5227" y="3628570"/>
            <a:ext cx="2867175" cy="2503264"/>
          </a:xfrm>
          <a:prstGeom prst="rect">
            <a:avLst/>
          </a:prstGeom>
        </p:spPr>
      </p:pic>
      <p:sp>
        <p:nvSpPr>
          <p:cNvPr id="33" name="Retângulo 32">
            <a:extLst>
              <a:ext uri="{FF2B5EF4-FFF2-40B4-BE49-F238E27FC236}">
                <a16:creationId xmlns:a16="http://schemas.microsoft.com/office/drawing/2014/main" id="{07611658-64CD-4678-42AF-BD0165F04ED1}"/>
              </a:ext>
            </a:extLst>
          </p:cNvPr>
          <p:cNvSpPr/>
          <p:nvPr/>
        </p:nvSpPr>
        <p:spPr>
          <a:xfrm>
            <a:off x="8350786" y="5167261"/>
            <a:ext cx="787705" cy="85623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tângulo 33">
            <a:extLst>
              <a:ext uri="{FF2B5EF4-FFF2-40B4-BE49-F238E27FC236}">
                <a16:creationId xmlns:a16="http://schemas.microsoft.com/office/drawing/2014/main" id="{2D33ECFF-DA25-77CC-0F1C-405CCAED5082}"/>
              </a:ext>
            </a:extLst>
          </p:cNvPr>
          <p:cNvSpPr/>
          <p:nvPr/>
        </p:nvSpPr>
        <p:spPr>
          <a:xfrm>
            <a:off x="11246391" y="4647632"/>
            <a:ext cx="725272" cy="51962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id="{1D1DA3B0-46A6-4CEF-0378-B143126AF75B}"/>
              </a:ext>
            </a:extLst>
          </p:cNvPr>
          <p:cNvSpPr/>
          <p:nvPr/>
        </p:nvSpPr>
        <p:spPr>
          <a:xfrm>
            <a:off x="4875031" y="1951271"/>
            <a:ext cx="297470" cy="4340346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Seta para a Direita 35">
            <a:extLst>
              <a:ext uri="{FF2B5EF4-FFF2-40B4-BE49-F238E27FC236}">
                <a16:creationId xmlns:a16="http://schemas.microsoft.com/office/drawing/2014/main" id="{FCBBB4DD-005A-E13F-5FDA-AF7A26BCC788}"/>
              </a:ext>
            </a:extLst>
          </p:cNvPr>
          <p:cNvSpPr/>
          <p:nvPr/>
        </p:nvSpPr>
        <p:spPr>
          <a:xfrm rot="8298510">
            <a:off x="5148472" y="1779264"/>
            <a:ext cx="377687" cy="21415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09A6869D-6854-962E-6D72-7EAE8EABFA2E}"/>
              </a:ext>
            </a:extLst>
          </p:cNvPr>
          <p:cNvSpPr txBox="1"/>
          <p:nvPr/>
        </p:nvSpPr>
        <p:spPr>
          <a:xfrm>
            <a:off x="5514053" y="1616134"/>
            <a:ext cx="2608022" cy="307777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sz="1400" dirty="0" err="1"/>
              <a:t>Correlação</a:t>
            </a:r>
            <a:r>
              <a:rPr lang="en-US" sz="1400" dirty="0"/>
              <a:t> com a </a:t>
            </a:r>
            <a:r>
              <a:rPr lang="en-US" sz="1400" dirty="0" err="1"/>
              <a:t>variável</a:t>
            </a:r>
            <a:r>
              <a:rPr lang="en-US" sz="1400" dirty="0"/>
              <a:t> </a:t>
            </a:r>
            <a:r>
              <a:rPr lang="en-US" sz="1400" dirty="0" err="1"/>
              <a:t>alvo</a:t>
            </a:r>
            <a:r>
              <a:rPr lang="en-US" sz="1400" dirty="0"/>
              <a:t>.</a:t>
            </a:r>
          </a:p>
        </p:txBody>
      </p:sp>
      <p:sp>
        <p:nvSpPr>
          <p:cNvPr id="38" name="CaixaDeTexto 37">
            <a:extLst>
              <a:ext uri="{FF2B5EF4-FFF2-40B4-BE49-F238E27FC236}">
                <a16:creationId xmlns:a16="http://schemas.microsoft.com/office/drawing/2014/main" id="{E9B91BDC-02A0-20AF-28EF-8D2350B532ED}"/>
              </a:ext>
            </a:extLst>
          </p:cNvPr>
          <p:cNvSpPr txBox="1"/>
          <p:nvPr/>
        </p:nvSpPr>
        <p:spPr>
          <a:xfrm>
            <a:off x="834355" y="6523300"/>
            <a:ext cx="94881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[3] https://</a:t>
            </a:r>
            <a:r>
              <a:rPr lang="pt-BR" sz="1200" dirty="0" err="1"/>
              <a:t>www.statstutor.ac.uk</a:t>
            </a:r>
            <a:r>
              <a:rPr lang="pt-BR" sz="1200" dirty="0"/>
              <a:t>/</a:t>
            </a:r>
            <a:r>
              <a:rPr lang="pt-BR" sz="1200" dirty="0" err="1"/>
              <a:t>resources</a:t>
            </a:r>
            <a:r>
              <a:rPr lang="pt-BR" sz="1200" dirty="0"/>
              <a:t>/</a:t>
            </a:r>
            <a:r>
              <a:rPr lang="pt-BR" sz="1200" dirty="0" err="1"/>
              <a:t>uploaded</a:t>
            </a:r>
            <a:r>
              <a:rPr lang="pt-BR" sz="1200" dirty="0"/>
              <a:t>/</a:t>
            </a:r>
            <a:r>
              <a:rPr lang="pt-BR" sz="1200" dirty="0" err="1"/>
              <a:t>spearmans.pdf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27130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91C624B-1CF2-6D1C-AB29-C81EBE28E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Detcção</a:t>
            </a:r>
            <a:r>
              <a:rPr lang="en-US" sz="4000" dirty="0">
                <a:solidFill>
                  <a:srgbClr val="FFFFFF"/>
                </a:solidFill>
              </a:rPr>
              <a:t> de Outliers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695553-D3F6-4904-C58F-9CB1629772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18197"/>
            <a:ext cx="7182091" cy="3683358"/>
          </a:xfrm>
        </p:spPr>
        <p:txBody>
          <a:bodyPr anchor="ctr">
            <a:normAutofit fontScale="92500" lnSpcReduction="20000"/>
          </a:bodyPr>
          <a:lstStyle/>
          <a:p>
            <a:r>
              <a:rPr lang="pt-BR" sz="2200" b="1" dirty="0"/>
              <a:t>Algoritmo </a:t>
            </a:r>
            <a:r>
              <a:rPr lang="pt-BR" sz="2200" b="1" dirty="0" err="1"/>
              <a:t>Isolation</a:t>
            </a:r>
            <a:r>
              <a:rPr lang="pt-BR" sz="2200" b="1" dirty="0"/>
              <a:t> Forest – Detecção de Outliers</a:t>
            </a:r>
            <a:endParaRPr lang="pt-BR" sz="2200" dirty="0"/>
          </a:p>
          <a:p>
            <a:r>
              <a:rPr lang="pt-BR" sz="2200" b="1" dirty="0"/>
              <a:t>Premissa</a:t>
            </a:r>
            <a:endParaRPr lang="pt-BR" sz="2200" dirty="0"/>
          </a:p>
          <a:p>
            <a:pPr lvl="1"/>
            <a:r>
              <a:rPr lang="pt-BR" sz="1600" dirty="0"/>
              <a:t>Outliers tendem a ser isolados em menos divisões (profundidade menor).</a:t>
            </a:r>
          </a:p>
          <a:p>
            <a:r>
              <a:rPr lang="pt-BR" sz="2200" b="1" dirty="0"/>
              <a:t>Funcionamento</a:t>
            </a:r>
            <a:endParaRPr lang="pt-BR" sz="2200" dirty="0"/>
          </a:p>
          <a:p>
            <a:pPr lvl="1"/>
            <a:r>
              <a:rPr lang="pt-BR" sz="1700" dirty="0" err="1"/>
              <a:t>Sub-amostragem</a:t>
            </a:r>
            <a:r>
              <a:rPr lang="pt-BR" sz="1700" dirty="0"/>
              <a:t> aleatória sem reposição</a:t>
            </a:r>
          </a:p>
          <a:p>
            <a:pPr lvl="1"/>
            <a:r>
              <a:rPr lang="pt-BR" sz="1700" dirty="0"/>
              <a:t>Construção de árvores de isolamento (binárias)</a:t>
            </a:r>
          </a:p>
          <a:p>
            <a:pPr lvl="1"/>
            <a:r>
              <a:rPr lang="pt-BR" sz="1700" dirty="0"/>
              <a:t>Condições de parada: profundidade máxima ou uma instância por nó</a:t>
            </a:r>
          </a:p>
          <a:p>
            <a:pPr lvl="1"/>
            <a:r>
              <a:rPr lang="pt-BR" sz="1700" dirty="0"/>
              <a:t>Classificação:</a:t>
            </a:r>
          </a:p>
          <a:p>
            <a:pPr lvl="2"/>
            <a:r>
              <a:rPr lang="pt-BR" sz="1700" b="1" dirty="0"/>
              <a:t>Caminhos curtos → Outliers</a:t>
            </a:r>
            <a:endParaRPr lang="pt-BR" sz="1700" dirty="0"/>
          </a:p>
          <a:p>
            <a:pPr lvl="2"/>
            <a:r>
              <a:rPr lang="pt-BR" sz="1700" b="1" dirty="0"/>
              <a:t>Caminhos longos → Normais</a:t>
            </a:r>
          </a:p>
          <a:p>
            <a:r>
              <a:rPr lang="pt-BR" sz="2200" b="1" dirty="0"/>
              <a:t>Resultado</a:t>
            </a:r>
          </a:p>
          <a:p>
            <a:pPr lvl="1"/>
            <a:r>
              <a:rPr lang="pt-BR" sz="1700" dirty="0"/>
              <a:t>Outliers: 60</a:t>
            </a:r>
          </a:p>
          <a:p>
            <a:pPr lvl="1"/>
            <a:r>
              <a:rPr lang="pt-BR" sz="1700" dirty="0"/>
              <a:t>Amostras Normais: 344</a:t>
            </a:r>
          </a:p>
          <a:p>
            <a:pPr marL="457200" lvl="1" indent="0">
              <a:buNone/>
            </a:pPr>
            <a:endParaRPr lang="en-US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671753E-15F4-5491-4788-27CF3AB26908}"/>
              </a:ext>
            </a:extLst>
          </p:cNvPr>
          <p:cNvSpPr txBox="1"/>
          <p:nvPr/>
        </p:nvSpPr>
        <p:spPr>
          <a:xfrm>
            <a:off x="963561" y="6194130"/>
            <a:ext cx="94881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[4] F. T. Liu, </a:t>
            </a:r>
            <a:r>
              <a:rPr lang="pt-BR" sz="1200" dirty="0" err="1"/>
              <a:t>K</a:t>
            </a:r>
            <a:r>
              <a:rPr lang="pt-BR" sz="1200" dirty="0"/>
              <a:t>. M. Ting </a:t>
            </a:r>
            <a:r>
              <a:rPr lang="pt-BR" sz="1200" dirty="0" err="1"/>
              <a:t>and</a:t>
            </a:r>
            <a:r>
              <a:rPr lang="pt-BR" sz="1200" dirty="0"/>
              <a:t> </a:t>
            </a:r>
            <a:r>
              <a:rPr lang="pt-BR" sz="1200" dirty="0" err="1"/>
              <a:t>Z</a:t>
            </a:r>
            <a:r>
              <a:rPr lang="pt-BR" sz="1200" dirty="0"/>
              <a:t>. -H. Zhou, "</a:t>
            </a:r>
            <a:r>
              <a:rPr lang="pt-BR" sz="1200" dirty="0" err="1"/>
              <a:t>Isolation</a:t>
            </a:r>
            <a:r>
              <a:rPr lang="pt-BR" sz="1200" dirty="0"/>
              <a:t> Forest," 2008 </a:t>
            </a:r>
            <a:r>
              <a:rPr lang="pt-BR" sz="1200" dirty="0" err="1"/>
              <a:t>Eighth</a:t>
            </a:r>
            <a:r>
              <a:rPr lang="pt-BR" sz="1200" dirty="0"/>
              <a:t> IEEE </a:t>
            </a:r>
            <a:r>
              <a:rPr lang="pt-BR" sz="1200" dirty="0" err="1"/>
              <a:t>International</a:t>
            </a:r>
            <a:r>
              <a:rPr lang="pt-BR" sz="1200" dirty="0"/>
              <a:t> </a:t>
            </a:r>
            <a:r>
              <a:rPr lang="pt-BR" sz="1200" dirty="0" err="1"/>
              <a:t>Conference</a:t>
            </a:r>
            <a:r>
              <a:rPr lang="pt-BR" sz="1200" dirty="0"/>
              <a:t> </a:t>
            </a:r>
            <a:r>
              <a:rPr lang="pt-BR" sz="1200" dirty="0" err="1"/>
              <a:t>on</a:t>
            </a:r>
            <a:r>
              <a:rPr lang="pt-BR" sz="1200" dirty="0"/>
              <a:t> Data Mining, Pisa, Italy, 2008, pp. 413-422, </a:t>
            </a:r>
            <a:r>
              <a:rPr lang="pt-BR" sz="1200" dirty="0" err="1"/>
              <a:t>doi</a:t>
            </a:r>
            <a:r>
              <a:rPr lang="pt-BR" sz="1200" dirty="0"/>
              <a:t>: 10.1109/ICDM.2008.17.</a:t>
            </a:r>
            <a:endParaRPr lang="en-US" sz="12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0DE31C5-6396-3C57-9692-B8142C6648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01873" y="1590741"/>
            <a:ext cx="2033523" cy="2051761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CE55CF89-E93B-A485-21A4-8B60E1D7E67E}"/>
              </a:ext>
            </a:extLst>
          </p:cNvPr>
          <p:cNvSpPr txBox="1"/>
          <p:nvPr/>
        </p:nvSpPr>
        <p:spPr>
          <a:xfrm>
            <a:off x="9201872" y="3622873"/>
            <a:ext cx="2071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(a)  </a:t>
            </a:r>
            <a:r>
              <a:rPr lang="en-US" sz="1000" dirty="0" err="1"/>
              <a:t>Amostra</a:t>
            </a:r>
            <a:r>
              <a:rPr lang="en-US" sz="1000" dirty="0"/>
              <a:t> Normal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7A30930-F2F4-5547-BECC-8EEC99584E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4027" y="3859671"/>
            <a:ext cx="2033523" cy="2015366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F103AD60-46C1-76F4-3B29-6C3A961DFA6F}"/>
              </a:ext>
            </a:extLst>
          </p:cNvPr>
          <p:cNvSpPr txBox="1"/>
          <p:nvPr/>
        </p:nvSpPr>
        <p:spPr>
          <a:xfrm>
            <a:off x="9203800" y="5893438"/>
            <a:ext cx="207186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/>
              <a:t>(b)  Outlier</a:t>
            </a:r>
          </a:p>
        </p:txBody>
      </p:sp>
    </p:spTree>
    <p:extLst>
      <p:ext uri="{BB962C8B-B14F-4D97-AF65-F5344CB8AC3E}">
        <p14:creationId xmlns:p14="http://schemas.microsoft.com/office/powerpoint/2010/main" val="3710985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AFF35F-9DFB-8130-C757-8973A468E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2">
            <a:extLst>
              <a:ext uri="{FF2B5EF4-FFF2-40B4-BE49-F238E27FC236}">
                <a16:creationId xmlns:a16="http://schemas.microsoft.com/office/drawing/2014/main" id="{B1F7E7BC-1BEE-3B5A-AEC1-CF5DDB38AA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9168395E-63AA-56A6-D215-15155E24C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2C777498-08B3-30A0-469A-D78E86F25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05583A6E-028E-5A52-3F43-9E1B3DA302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8FADD2D-A58D-4222-E8F1-2F28261C29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D57C670-F6C2-AEA9-0A23-529890085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>
                <a:solidFill>
                  <a:srgbClr val="FFFFFF"/>
                </a:solidFill>
              </a:rPr>
              <a:t>Pré-</a:t>
            </a:r>
            <a:r>
              <a:rPr lang="en-US" sz="4800" dirty="0" err="1">
                <a:solidFill>
                  <a:srgbClr val="FFFFFF"/>
                </a:solidFill>
              </a:rPr>
              <a:t>processamento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D5D22DB8-FD6A-6690-EA8F-AC981839B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17104B0-9C96-9063-C71F-79E100F0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925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4AFB4-90A1-1188-B588-7477753DC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5281A1-A1AB-0490-98A3-17E138B8DC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5A8E1E-61EB-F2E0-6923-4EBE93EE53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025771A-ACD5-D5E8-56F9-BD335409A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D6554F7-598D-EAAA-C4FF-7C553E5E66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B01E114-0E7D-6AA6-5DE2-36CAD015C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274ED1C-1EBA-52DA-3B30-D6A023D5FB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Banco de </a:t>
            </a:r>
            <a:r>
              <a:rPr lang="en-US" sz="4000" dirty="0" err="1">
                <a:solidFill>
                  <a:srgbClr val="FFFFFF"/>
                </a:solidFill>
              </a:rPr>
              <a:t>Filtros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04CA516-2F18-CB4B-7DF1-FA2F6471BF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 lnSpcReduction="10000"/>
          </a:bodyPr>
          <a:lstStyle/>
          <a:p>
            <a:r>
              <a:rPr lang="en-US" sz="2000" b="1" dirty="0" err="1"/>
              <a:t>Filtro</a:t>
            </a:r>
            <a:r>
              <a:rPr lang="en-US" sz="2000" b="1" dirty="0"/>
              <a:t> de Constância (≥70% </a:t>
            </a:r>
            <a:r>
              <a:rPr lang="en-US" sz="2000" b="1" dirty="0" err="1"/>
              <a:t>em</a:t>
            </a:r>
            <a:r>
              <a:rPr lang="en-US" sz="2000" b="1" dirty="0"/>
              <a:t> um </a:t>
            </a:r>
            <a:r>
              <a:rPr lang="en-US" sz="2000" b="1" dirty="0" err="1"/>
              <a:t>único</a:t>
            </a:r>
            <a:r>
              <a:rPr lang="en-US" sz="2000" b="1" dirty="0"/>
              <a:t> valor)</a:t>
            </a:r>
          </a:p>
          <a:p>
            <a:pPr lvl="1"/>
            <a:r>
              <a:rPr lang="en-US" sz="1600" b="1" dirty="0" err="1"/>
              <a:t>Removidas</a:t>
            </a:r>
            <a:r>
              <a:rPr lang="en-US" sz="1600" dirty="0"/>
              <a:t>: ZN e CHAS.</a:t>
            </a:r>
          </a:p>
          <a:p>
            <a:pPr lvl="1"/>
            <a:r>
              <a:rPr lang="en-US" sz="1600" b="1" dirty="0" err="1"/>
              <a:t>Restantes</a:t>
            </a:r>
            <a:r>
              <a:rPr lang="en-US" sz="1600" dirty="0"/>
              <a:t>: AGE, CRIM, DIS, INDUS, NOX, TAXRM, LSTAT, B, PTRATIO e RAD.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en-US" sz="2000" b="1" dirty="0" err="1"/>
              <a:t>Filtro</a:t>
            </a:r>
            <a:r>
              <a:rPr lang="en-US" sz="2000" b="1" dirty="0"/>
              <a:t> de </a:t>
            </a:r>
            <a:r>
              <a:rPr lang="en-US" sz="2000" b="1" dirty="0" err="1"/>
              <a:t>Correlação</a:t>
            </a:r>
            <a:r>
              <a:rPr lang="en-US" sz="2000" b="1" dirty="0"/>
              <a:t> (Spearman ≥ 0,7)</a:t>
            </a:r>
          </a:p>
          <a:p>
            <a:pPr lvl="1"/>
            <a:r>
              <a:rPr lang="en-US" sz="1600" b="1" dirty="0" err="1"/>
              <a:t>Regra</a:t>
            </a:r>
            <a:r>
              <a:rPr lang="en-US" sz="1600" dirty="0"/>
              <a:t>: </a:t>
            </a:r>
            <a:r>
              <a:rPr lang="en-US" sz="1600" dirty="0" err="1"/>
              <a:t>quando</a:t>
            </a:r>
            <a:r>
              <a:rPr lang="en-US" sz="1600" dirty="0"/>
              <a:t> duas </a:t>
            </a:r>
            <a:r>
              <a:rPr lang="en-US" sz="1600" dirty="0" err="1"/>
              <a:t>variáveis</a:t>
            </a:r>
            <a:r>
              <a:rPr lang="en-US" sz="1600" dirty="0"/>
              <a:t> </a:t>
            </a:r>
            <a:r>
              <a:rPr lang="en-US" sz="1600" dirty="0" err="1"/>
              <a:t>são</a:t>
            </a:r>
            <a:r>
              <a:rPr lang="en-US" sz="1600" dirty="0"/>
              <a:t> </a:t>
            </a:r>
            <a:r>
              <a:rPr lang="en-US" sz="1600" dirty="0" err="1"/>
              <a:t>altamente</a:t>
            </a:r>
            <a:r>
              <a:rPr lang="en-US" sz="1600" dirty="0"/>
              <a:t> </a:t>
            </a:r>
            <a:r>
              <a:rPr lang="en-US" sz="1600" dirty="0" err="1"/>
              <a:t>correlacionadas</a:t>
            </a:r>
            <a:r>
              <a:rPr lang="en-US" sz="1600" dirty="0"/>
              <a:t>, remove-se a </a:t>
            </a:r>
            <a:r>
              <a:rPr lang="en-US" sz="1600" dirty="0" err="1"/>
              <a:t>segunda</a:t>
            </a:r>
            <a:r>
              <a:rPr lang="en-US" sz="1600" dirty="0"/>
              <a:t> do par.</a:t>
            </a:r>
          </a:p>
          <a:p>
            <a:pPr lvl="1"/>
            <a:r>
              <a:rPr lang="en-US" sz="1600" b="1" dirty="0" err="1"/>
              <a:t>Removidas</a:t>
            </a:r>
            <a:r>
              <a:rPr lang="en-US" sz="1600" dirty="0"/>
              <a:t>:</a:t>
            </a:r>
            <a:r>
              <a:rPr lang="en-US" sz="1600" b="1" dirty="0"/>
              <a:t> </a:t>
            </a:r>
            <a:r>
              <a:rPr lang="en-US" sz="1600" dirty="0"/>
              <a:t>AGE, CRIM, DIS, INDUS, NOX e TAX.</a:t>
            </a:r>
          </a:p>
          <a:p>
            <a:pPr lvl="1"/>
            <a:r>
              <a:rPr lang="en-US" sz="1600" b="1" dirty="0" err="1"/>
              <a:t>Restantes</a:t>
            </a:r>
            <a:r>
              <a:rPr lang="en-US" sz="1600" b="1" dirty="0"/>
              <a:t>: </a:t>
            </a:r>
            <a:r>
              <a:rPr lang="en-US" sz="1600" dirty="0"/>
              <a:t>RM, LSTAT, B, PTRATIO e RAD.</a:t>
            </a:r>
          </a:p>
          <a:p>
            <a:pPr marL="457200" lvl="1" indent="0">
              <a:buNone/>
            </a:pPr>
            <a:endParaRPr lang="en-US" sz="1600" dirty="0"/>
          </a:p>
          <a:p>
            <a:r>
              <a:rPr lang="pt-BR" sz="2000" b="1" dirty="0"/>
              <a:t>Filtro </a:t>
            </a:r>
            <a:r>
              <a:rPr lang="pt-BR" sz="2000" b="1" dirty="0" err="1"/>
              <a:t>Julgamental</a:t>
            </a:r>
            <a:r>
              <a:rPr lang="pt-BR" sz="2000" dirty="0"/>
              <a:t> (decisão crítica do autor)</a:t>
            </a:r>
          </a:p>
          <a:p>
            <a:pPr lvl="1"/>
            <a:r>
              <a:rPr lang="en-US" sz="1600" b="1" dirty="0" err="1"/>
              <a:t>Removidas</a:t>
            </a:r>
            <a:r>
              <a:rPr lang="en-US" sz="1600" dirty="0"/>
              <a:t>:</a:t>
            </a:r>
            <a:r>
              <a:rPr lang="en-US" sz="1600" b="1" dirty="0"/>
              <a:t> </a:t>
            </a:r>
            <a:r>
              <a:rPr lang="en-US" sz="1600" dirty="0"/>
              <a:t>B.</a:t>
            </a:r>
          </a:p>
          <a:p>
            <a:pPr lvl="1"/>
            <a:r>
              <a:rPr lang="en-US" sz="1600" b="1" dirty="0" err="1"/>
              <a:t>Restantes</a:t>
            </a:r>
            <a:r>
              <a:rPr lang="en-US" sz="1600" b="1" dirty="0"/>
              <a:t>: </a:t>
            </a:r>
            <a:r>
              <a:rPr lang="en-US" sz="1600" dirty="0"/>
              <a:t>RM, LSTAT, PTRATIO e RAD.</a:t>
            </a:r>
            <a:endParaRPr lang="en-US" sz="2000" dirty="0"/>
          </a:p>
          <a:p>
            <a:pPr lvl="1"/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23113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7F16BA-34CF-00F6-1BBD-791BA3701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0C71A3A-B4D0-A881-6535-25675AC16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4B10BE-7195-BC35-D4BA-E2BE491C2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3350039-3B5F-CC4B-13D5-76D84689A6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21BAD18-B932-998E-25C0-44BF65D32D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959FF7C-5680-F3E5-04F7-123ECA479C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4BF8F2-5A0A-CCBB-61FC-636D8F65F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Avaliando</a:t>
            </a:r>
            <a:r>
              <a:rPr lang="en-US" sz="4000" dirty="0">
                <a:solidFill>
                  <a:srgbClr val="FFFFFF"/>
                </a:solidFill>
              </a:rPr>
              <a:t> as </a:t>
            </a:r>
            <a:r>
              <a:rPr lang="en-US" sz="4000" dirty="0" err="1">
                <a:solidFill>
                  <a:srgbClr val="FFFFFF"/>
                </a:solidFill>
              </a:rPr>
              <a:t>Variáveis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Selecionadas</a:t>
            </a:r>
            <a:endParaRPr lang="en-US" sz="4000" dirty="0">
              <a:solidFill>
                <a:srgbClr val="FFFFFF"/>
              </a:solidFill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F1D045D-CB62-4EA9-CE7A-EADC01C28B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008" y="1746416"/>
            <a:ext cx="5707284" cy="4817046"/>
          </a:xfrm>
          <a:prstGeom prst="rect">
            <a:avLst/>
          </a:prstGeom>
        </p:spPr>
      </p:pic>
      <p:pic>
        <p:nvPicPr>
          <p:cNvPr id="17" name="Imagem 16" descr="Gráfico, Gráfico de mapa de árvore&#10;&#10;O conteúdo gerado por IA pode estar incorreto.">
            <a:extLst>
              <a:ext uri="{FF2B5EF4-FFF2-40B4-BE49-F238E27FC236}">
                <a16:creationId xmlns:a16="http://schemas.microsoft.com/office/drawing/2014/main" id="{F14B35DC-EA72-2F2C-DAE3-621CF00990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5512" y="1842464"/>
            <a:ext cx="968408" cy="4545823"/>
          </a:xfrm>
          <a:prstGeom prst="rect">
            <a:avLst/>
          </a:prstGeom>
        </p:spPr>
      </p:pic>
      <p:sp>
        <p:nvSpPr>
          <p:cNvPr id="18" name="Seta para a Direita 17">
            <a:extLst>
              <a:ext uri="{FF2B5EF4-FFF2-40B4-BE49-F238E27FC236}">
                <a16:creationId xmlns:a16="http://schemas.microsoft.com/office/drawing/2014/main" id="{B27B25D5-383E-211B-3DA7-AC002597A45A}"/>
              </a:ext>
            </a:extLst>
          </p:cNvPr>
          <p:cNvSpPr/>
          <p:nvPr/>
        </p:nvSpPr>
        <p:spPr>
          <a:xfrm>
            <a:off x="7565929" y="3872509"/>
            <a:ext cx="914400" cy="451413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19" name="Chave Esquerda 18">
            <a:extLst>
              <a:ext uri="{FF2B5EF4-FFF2-40B4-BE49-F238E27FC236}">
                <a16:creationId xmlns:a16="http://schemas.microsoft.com/office/drawing/2014/main" id="{A6338B3B-DF24-857B-B63F-7CE3C6729199}"/>
              </a:ext>
            </a:extLst>
          </p:cNvPr>
          <p:cNvSpPr/>
          <p:nvPr/>
        </p:nvSpPr>
        <p:spPr>
          <a:xfrm>
            <a:off x="9134967" y="1927441"/>
            <a:ext cx="254034" cy="4368302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5429342-EB4F-4EB9-1A9A-1EB883A3C9A0}"/>
              </a:ext>
            </a:extLst>
          </p:cNvPr>
          <p:cNvSpPr txBox="1"/>
          <p:nvPr/>
        </p:nvSpPr>
        <p:spPr>
          <a:xfrm>
            <a:off x="7111260" y="4570199"/>
            <a:ext cx="1895716" cy="523220"/>
          </a:xfrm>
          <a:prstGeom prst="rect">
            <a:avLst/>
          </a:prstGeom>
          <a:noFill/>
          <a:ln w="15875">
            <a:solidFill>
              <a:schemeClr val="accent1">
                <a:shade val="15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 err="1"/>
              <a:t>Correlação</a:t>
            </a:r>
            <a:r>
              <a:rPr lang="en-US" sz="1400" dirty="0"/>
              <a:t> com a </a:t>
            </a:r>
            <a:r>
              <a:rPr lang="en-US" sz="1400" dirty="0" err="1"/>
              <a:t>variável</a:t>
            </a:r>
            <a:r>
              <a:rPr lang="en-US" sz="1400" dirty="0"/>
              <a:t> </a:t>
            </a:r>
            <a:r>
              <a:rPr lang="en-US" sz="1400" dirty="0" err="1"/>
              <a:t>alvo</a:t>
            </a:r>
            <a:r>
              <a:rPr lang="en-US" sz="1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3357784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047A46-4D5D-FD85-6D7B-4C525A27F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4EE7C9-AEAE-C2B7-C319-A4846F0F5F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DCA79D9-7DFA-4944-67E0-7DDF25C830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DAE4C29-3A3A-E8C2-5211-43DFE3E359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BBC1794-CEB2-75F2-2356-E04C48894E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8F2FB3A-4109-3D94-DE01-30007E6BF4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FCEA881-396D-B945-431A-AFFFF442C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Avaliando</a:t>
            </a:r>
            <a:r>
              <a:rPr lang="en-US" sz="4000" dirty="0">
                <a:solidFill>
                  <a:srgbClr val="FFFFFF"/>
                </a:solidFill>
              </a:rPr>
              <a:t> as </a:t>
            </a:r>
            <a:r>
              <a:rPr lang="en-US" sz="4000" dirty="0" err="1">
                <a:solidFill>
                  <a:srgbClr val="FFFFFF"/>
                </a:solidFill>
              </a:rPr>
              <a:t>Variáveis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Selecionadas</a:t>
            </a:r>
            <a:r>
              <a:rPr lang="en-US" sz="4000" dirty="0">
                <a:solidFill>
                  <a:srgbClr val="FFFFFF"/>
                </a:solidFill>
              </a:rPr>
              <a:t> (</a:t>
            </a:r>
            <a:r>
              <a:rPr lang="en-US" sz="4000" dirty="0" err="1">
                <a:solidFill>
                  <a:srgbClr val="FFFFFF"/>
                </a:solidFill>
              </a:rPr>
              <a:t>Cont</a:t>
            </a:r>
            <a:r>
              <a:rPr lang="en-US" sz="4000" dirty="0">
                <a:solidFill>
                  <a:srgbClr val="FFFFFF"/>
                </a:solidFill>
              </a:rPr>
              <a:t>)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4570745-F7BD-B9C6-584D-52996FE6E1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210" y="1590741"/>
            <a:ext cx="5822226" cy="3426178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65D9017A-A5F6-7A06-18D6-DFB7EA6D44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3210" y="5016919"/>
            <a:ext cx="5822226" cy="132891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58D48B77-1E3B-DE47-D506-9142AF66E8FA}"/>
              </a:ext>
            </a:extLst>
          </p:cNvPr>
          <p:cNvSpPr/>
          <p:nvPr/>
        </p:nvSpPr>
        <p:spPr>
          <a:xfrm>
            <a:off x="4919133" y="5173133"/>
            <a:ext cx="1286934" cy="135467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eta para a Direita 4">
            <a:extLst>
              <a:ext uri="{FF2B5EF4-FFF2-40B4-BE49-F238E27FC236}">
                <a16:creationId xmlns:a16="http://schemas.microsoft.com/office/drawing/2014/main" id="{20BEABEA-D355-F29E-783B-B8EEFF9B9F43}"/>
              </a:ext>
            </a:extLst>
          </p:cNvPr>
          <p:cNvSpPr/>
          <p:nvPr/>
        </p:nvSpPr>
        <p:spPr>
          <a:xfrm rot="10800000">
            <a:off x="9012891" y="5308600"/>
            <a:ext cx="774204" cy="43730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4A24DC3-DC82-932C-B1DF-A5344800A9CE}"/>
              </a:ext>
            </a:extLst>
          </p:cNvPr>
          <p:cNvSpPr txBox="1"/>
          <p:nvPr/>
        </p:nvSpPr>
        <p:spPr>
          <a:xfrm>
            <a:off x="9944550" y="4314509"/>
            <a:ext cx="1804879" cy="203132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Os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</a:t>
            </a:r>
            <a:r>
              <a:rPr lang="en-US" dirty="0" err="1"/>
              <a:t>nulos</a:t>
            </a:r>
            <a:r>
              <a:rPr lang="en-US" dirty="0"/>
              <a:t> de LSTAT </a:t>
            </a:r>
            <a:r>
              <a:rPr lang="en-US" dirty="0" err="1"/>
              <a:t>foram</a:t>
            </a:r>
            <a:r>
              <a:rPr lang="en-US" dirty="0"/>
              <a:t> </a:t>
            </a:r>
            <a:r>
              <a:rPr lang="en-US" dirty="0" err="1"/>
              <a:t>completados</a:t>
            </a:r>
            <a:r>
              <a:rPr lang="en-US" dirty="0"/>
              <a:t> </a:t>
            </a:r>
            <a:r>
              <a:rPr lang="en-US" dirty="0" err="1"/>
              <a:t>utilizando</a:t>
            </a:r>
            <a:r>
              <a:rPr lang="en-US" dirty="0"/>
              <a:t> a </a:t>
            </a:r>
            <a:r>
              <a:rPr lang="en-US" dirty="0" err="1"/>
              <a:t>mediana</a:t>
            </a:r>
            <a:r>
              <a:rPr lang="en-US" dirty="0"/>
              <a:t> dos </a:t>
            </a:r>
            <a:r>
              <a:rPr lang="en-US" dirty="0" err="1"/>
              <a:t>valores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8617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9884E6-A25F-0D88-7FC4-B9C2517E8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28C0781-6C8B-7D65-F92A-5D353802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75BA585-EF94-C9A3-8E49-74944CC865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12843E2-07FF-B300-964B-318C58C2E0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5D1B19-66B5-A8BB-4851-B88F35744E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162C294-3C78-923B-C0A2-7E9C4E57A8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5B92651-C6F0-2021-D20A-5D39BCF0F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Transformação</a:t>
            </a:r>
            <a:r>
              <a:rPr lang="en-US" sz="4000" dirty="0">
                <a:solidFill>
                  <a:srgbClr val="FFFFFF"/>
                </a:solidFill>
              </a:rPr>
              <a:t> de </a:t>
            </a:r>
            <a:r>
              <a:rPr lang="en-US" sz="4000" dirty="0" err="1">
                <a:solidFill>
                  <a:srgbClr val="FFFFFF"/>
                </a:solidFill>
              </a:rPr>
              <a:t>Variáveis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6A4ACC-EAF2-756A-7625-9B90980AA2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318197"/>
            <a:ext cx="5224072" cy="3683358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LSTAT</a:t>
            </a:r>
          </a:p>
          <a:p>
            <a:pPr lvl="1"/>
            <a:r>
              <a:rPr lang="en-US" sz="1600" b="1" dirty="0"/>
              <a:t>Tipo: </a:t>
            </a:r>
            <a:r>
              <a:rPr lang="en-US" sz="1600" dirty="0"/>
              <a:t>float64.</a:t>
            </a:r>
          </a:p>
          <a:p>
            <a:pPr lvl="1"/>
            <a:r>
              <a:rPr lang="en-US" sz="1600" b="1" dirty="0" err="1"/>
              <a:t>Transformação</a:t>
            </a:r>
            <a:r>
              <a:rPr lang="en-US" sz="1600" b="1" dirty="0"/>
              <a:t> </a:t>
            </a:r>
            <a:r>
              <a:rPr lang="en-US" sz="1600" b="1" dirty="0" err="1"/>
              <a:t>aplicada</a:t>
            </a:r>
            <a:r>
              <a:rPr lang="en-US" sz="1600" b="1" dirty="0"/>
              <a:t>: </a:t>
            </a:r>
            <a:r>
              <a:rPr lang="en-US" sz="1600" dirty="0"/>
              <a:t>ln(x).</a:t>
            </a:r>
          </a:p>
          <a:p>
            <a:pPr lvl="1"/>
            <a:r>
              <a:rPr lang="en-US" sz="1600" b="1" dirty="0" err="1"/>
              <a:t>Justificativa</a:t>
            </a:r>
            <a:r>
              <a:rPr lang="en-US" sz="1600" b="1" dirty="0"/>
              <a:t>: </a:t>
            </a:r>
            <a:r>
              <a:rPr lang="en-US" sz="1600" dirty="0" err="1"/>
              <a:t>Distribuição</a:t>
            </a:r>
            <a:r>
              <a:rPr lang="en-US" sz="1600" dirty="0"/>
              <a:t> se </a:t>
            </a:r>
            <a:r>
              <a:rPr lang="en-US" sz="1600" dirty="0" err="1"/>
              <a:t>aproxima</a:t>
            </a:r>
            <a:r>
              <a:rPr lang="en-US" sz="1600" dirty="0"/>
              <a:t> de </a:t>
            </a:r>
            <a:r>
              <a:rPr lang="en-US" sz="1600" dirty="0" err="1"/>
              <a:t>uma</a:t>
            </a:r>
            <a:r>
              <a:rPr lang="en-US" sz="1600" dirty="0"/>
              <a:t> log-normal.</a:t>
            </a:r>
          </a:p>
          <a:p>
            <a:r>
              <a:rPr lang="en-US" sz="2000" b="1" dirty="0"/>
              <a:t>RAD</a:t>
            </a:r>
          </a:p>
          <a:p>
            <a:pPr lvl="1"/>
            <a:r>
              <a:rPr lang="en-US" sz="1600" b="1" dirty="0"/>
              <a:t>Tipo: </a:t>
            </a:r>
            <a:r>
              <a:rPr lang="en-US" sz="1600" dirty="0"/>
              <a:t>int64.</a:t>
            </a:r>
          </a:p>
          <a:p>
            <a:pPr lvl="1"/>
            <a:r>
              <a:rPr lang="en-US" sz="1600" b="1" dirty="0" err="1"/>
              <a:t>Transformação</a:t>
            </a:r>
            <a:r>
              <a:rPr lang="en-US" sz="1600" b="1" dirty="0"/>
              <a:t> </a:t>
            </a:r>
            <a:r>
              <a:rPr lang="en-US" sz="1600" b="1" dirty="0" err="1"/>
              <a:t>aplicada</a:t>
            </a:r>
            <a:r>
              <a:rPr lang="en-US" sz="1600" b="1" dirty="0"/>
              <a:t>: </a:t>
            </a:r>
            <a:r>
              <a:rPr lang="en-US" sz="1600" dirty="0"/>
              <a:t>ln(x).</a:t>
            </a:r>
          </a:p>
          <a:p>
            <a:pPr lvl="1"/>
            <a:r>
              <a:rPr lang="en-US" sz="1600" b="1" dirty="0" err="1"/>
              <a:t>Justificativa</a:t>
            </a:r>
            <a:r>
              <a:rPr lang="en-US" sz="1600" b="1" dirty="0"/>
              <a:t>: </a:t>
            </a:r>
            <a:r>
              <a:rPr lang="en-US" sz="1600" dirty="0"/>
              <a:t>a </a:t>
            </a:r>
            <a:r>
              <a:rPr lang="en-US" sz="1600" dirty="0" err="1"/>
              <a:t>distribuição</a:t>
            </a:r>
            <a:r>
              <a:rPr lang="en-US" sz="1600" dirty="0"/>
              <a:t> se </a:t>
            </a:r>
            <a:r>
              <a:rPr lang="en-US" sz="1600" dirty="0" err="1"/>
              <a:t>aproxima</a:t>
            </a:r>
            <a:r>
              <a:rPr lang="en-US" sz="1600" dirty="0"/>
              <a:t> de </a:t>
            </a:r>
            <a:r>
              <a:rPr lang="en-US" sz="1600" dirty="0" err="1"/>
              <a:t>uma</a:t>
            </a:r>
            <a:r>
              <a:rPr lang="en-US" sz="1600" dirty="0"/>
              <a:t> log-normal.</a:t>
            </a:r>
          </a:p>
          <a:p>
            <a:pPr lvl="1"/>
            <a:r>
              <a:rPr lang="en-US" sz="1600" b="1" dirty="0" err="1"/>
              <a:t>Observação</a:t>
            </a:r>
            <a:r>
              <a:rPr lang="en-US" sz="1600" b="1" dirty="0"/>
              <a:t>: </a:t>
            </a:r>
            <a:r>
              <a:rPr lang="en-US" sz="1600" dirty="0"/>
              <a:t>a </a:t>
            </a:r>
            <a:r>
              <a:rPr lang="en-US" sz="1600" dirty="0" err="1"/>
              <a:t>distribuição</a:t>
            </a:r>
            <a:r>
              <a:rPr lang="en-US" sz="1600" dirty="0"/>
              <a:t> </a:t>
            </a:r>
            <a:r>
              <a:rPr lang="en-US" sz="1600" dirty="0" err="1"/>
              <a:t>apresenta</a:t>
            </a:r>
            <a:r>
              <a:rPr lang="en-US" sz="1600" dirty="0"/>
              <a:t> um </a:t>
            </a:r>
            <a:r>
              <a:rPr lang="en-US" sz="1600" dirty="0" err="1"/>
              <a:t>pico</a:t>
            </a:r>
            <a:r>
              <a:rPr lang="en-US" sz="1600" dirty="0"/>
              <a:t> </a:t>
            </a:r>
            <a:r>
              <a:rPr lang="en-US" sz="1600" dirty="0" err="1"/>
              <a:t>adicional</a:t>
            </a:r>
            <a:r>
              <a:rPr lang="en-US" sz="1600" dirty="0"/>
              <a:t> </a:t>
            </a:r>
            <a:r>
              <a:rPr lang="en-US" sz="1600" dirty="0" err="1"/>
              <a:t>mais</a:t>
            </a:r>
            <a:r>
              <a:rPr lang="en-US" sz="1600" dirty="0"/>
              <a:t> </a:t>
            </a:r>
            <a:r>
              <a:rPr lang="en-US" sz="1600" dirty="0" err="1"/>
              <a:t>isolado</a:t>
            </a:r>
            <a:r>
              <a:rPr lang="en-US" sz="1600" dirty="0"/>
              <a:t> à </a:t>
            </a:r>
            <a:r>
              <a:rPr lang="en-US" sz="1600" dirty="0" err="1"/>
              <a:t>direita</a:t>
            </a:r>
            <a:endParaRPr lang="en-US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031ED1D-B50D-AB4C-3716-B62BC8326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574" y="3943249"/>
            <a:ext cx="4491996" cy="2223196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54C1784-5E05-F06B-ED35-54B40D7C1F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0623" y="1678535"/>
            <a:ext cx="4596927" cy="227512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5DFA89FB-B362-C41C-8171-ADE9432E18E1}"/>
              </a:ext>
            </a:extLst>
          </p:cNvPr>
          <p:cNvSpPr/>
          <p:nvPr/>
        </p:nvSpPr>
        <p:spPr>
          <a:xfrm>
            <a:off x="10762938" y="2518348"/>
            <a:ext cx="474632" cy="1337108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208726-F50F-A0E6-8A5A-16BC6AF20193}"/>
              </a:ext>
            </a:extLst>
          </p:cNvPr>
          <p:cNvSpPr/>
          <p:nvPr/>
        </p:nvSpPr>
        <p:spPr>
          <a:xfrm>
            <a:off x="10795418" y="4244709"/>
            <a:ext cx="474632" cy="1756846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350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5F63A0-1B6D-746E-D0CB-543B29F4E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B2F7E6A-13BE-9472-ACEB-49EA83F279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8844AD3-7331-91F1-EE95-27F4CBF04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EC4CD4-696B-619B-57A7-B208FA556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7BDEC0A-EA85-52D2-6325-5EC649845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214CBF2-5517-E336-B2F2-F57F2F84D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AE2BC56-5A82-3B39-D22A-5DBCB49F6F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Criação</a:t>
            </a:r>
            <a:r>
              <a:rPr lang="en-US" sz="4000" dirty="0">
                <a:solidFill>
                  <a:srgbClr val="FFFFFF"/>
                </a:solidFill>
              </a:rPr>
              <a:t> de </a:t>
            </a:r>
            <a:r>
              <a:rPr lang="en-US" sz="4000" dirty="0" err="1">
                <a:solidFill>
                  <a:srgbClr val="FFFFFF"/>
                </a:solidFill>
              </a:rPr>
              <a:t>novas</a:t>
            </a:r>
            <a:r>
              <a:rPr lang="en-US" sz="4000" dirty="0">
                <a:solidFill>
                  <a:srgbClr val="FFFFFF"/>
                </a:solidFill>
              </a:rPr>
              <a:t> </a:t>
            </a:r>
            <a:r>
              <a:rPr lang="en-US" sz="4000" dirty="0" err="1">
                <a:solidFill>
                  <a:srgbClr val="FFFFFF"/>
                </a:solidFill>
              </a:rPr>
              <a:t>variáveis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D68FB-A318-DA10-9F96-2BD39C7D34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 err="1"/>
              <a:t>Utilizando</a:t>
            </a:r>
            <a:r>
              <a:rPr lang="en-US" sz="2000" dirty="0"/>
              <a:t> o </a:t>
            </a:r>
            <a:r>
              <a:rPr lang="en-US" sz="2000" dirty="0" err="1"/>
              <a:t>método</a:t>
            </a:r>
            <a:r>
              <a:rPr lang="en-US" sz="2000" dirty="0"/>
              <a:t> </a:t>
            </a:r>
            <a:r>
              <a:rPr lang="en-US" sz="2000" b="1" dirty="0" err="1"/>
              <a:t>PolynomialFeatures</a:t>
            </a:r>
            <a:r>
              <a:rPr lang="en-US" sz="2000" b="1" dirty="0"/>
              <a:t>() </a:t>
            </a:r>
            <a:r>
              <a:rPr lang="en-US" sz="2000" dirty="0" err="1"/>
              <a:t>criamos</a:t>
            </a:r>
            <a:r>
              <a:rPr lang="en-US" sz="2000" dirty="0"/>
              <a:t> </a:t>
            </a:r>
            <a:r>
              <a:rPr lang="en-US" sz="2000" b="1" dirty="0"/>
              <a:t>10 </a:t>
            </a:r>
            <a:r>
              <a:rPr lang="en-US" sz="2000" b="1" dirty="0" err="1"/>
              <a:t>novas</a:t>
            </a:r>
            <a:r>
              <a:rPr lang="en-US" sz="2000" b="1" dirty="0"/>
              <a:t> </a:t>
            </a:r>
            <a:r>
              <a:rPr lang="en-US" sz="2000" b="1" dirty="0" err="1"/>
              <a:t>variáveis</a:t>
            </a:r>
            <a:r>
              <a:rPr lang="en-US" sz="2000" b="1" dirty="0"/>
              <a:t> </a:t>
            </a:r>
            <a:r>
              <a:rPr lang="en-US" sz="2000" dirty="0"/>
              <a:t>de </a:t>
            </a:r>
            <a:r>
              <a:rPr lang="en-US" sz="2000" dirty="0" err="1"/>
              <a:t>segunda</a:t>
            </a:r>
            <a:r>
              <a:rPr lang="en-US" sz="2000" dirty="0"/>
              <a:t> </a:t>
            </a:r>
            <a:r>
              <a:rPr lang="en-US" sz="2000" dirty="0" err="1"/>
              <a:t>ordem</a:t>
            </a:r>
            <a:r>
              <a:rPr lang="en-US" sz="2000" dirty="0"/>
              <a:t>:</a:t>
            </a:r>
          </a:p>
          <a:p>
            <a:pPr lvl="1"/>
            <a:r>
              <a:rPr lang="en-US" sz="1600" b="1" dirty="0"/>
              <a:t>LSTAT^2</a:t>
            </a:r>
            <a:r>
              <a:rPr lang="en-US" sz="1600" dirty="0"/>
              <a:t>: </a:t>
            </a:r>
            <a:r>
              <a:rPr lang="en-US" sz="1600" dirty="0" err="1"/>
              <a:t>Variável</a:t>
            </a:r>
            <a:r>
              <a:rPr lang="en-US" sz="1600" dirty="0"/>
              <a:t> LSTAT </a:t>
            </a:r>
            <a:r>
              <a:rPr lang="en-US" sz="1600" dirty="0" err="1"/>
              <a:t>elevada</a:t>
            </a:r>
            <a:r>
              <a:rPr lang="en-US" sz="1600" dirty="0"/>
              <a:t> </a:t>
            </a:r>
            <a:r>
              <a:rPr lang="en-US" sz="1600" dirty="0" err="1"/>
              <a:t>ao</a:t>
            </a:r>
            <a:r>
              <a:rPr lang="en-US" sz="1600" dirty="0"/>
              <a:t> </a:t>
            </a:r>
            <a:r>
              <a:rPr lang="en-US" sz="1600" dirty="0" err="1"/>
              <a:t>quadrado</a:t>
            </a:r>
            <a:r>
              <a:rPr lang="en-US" sz="1600" dirty="0"/>
              <a:t>.</a:t>
            </a:r>
          </a:p>
          <a:p>
            <a:pPr lvl="1"/>
            <a:r>
              <a:rPr lang="pt-BR" sz="1600" b="1" dirty="0"/>
              <a:t>LSTAT RAD</a:t>
            </a:r>
            <a:r>
              <a:rPr lang="pt-BR" sz="1600" dirty="0"/>
              <a:t>: Produto entre as variáveis LSTAT e RAD.</a:t>
            </a:r>
          </a:p>
          <a:p>
            <a:pPr lvl="1"/>
            <a:r>
              <a:rPr lang="pt-BR" sz="1600" b="1" dirty="0"/>
              <a:t>LSTAT RM</a:t>
            </a:r>
            <a:r>
              <a:rPr lang="pt-BR" sz="1600" dirty="0"/>
              <a:t>: Produto entre as variáveis LSTAT e RM.</a:t>
            </a:r>
          </a:p>
          <a:p>
            <a:pPr lvl="1"/>
            <a:r>
              <a:rPr lang="pt-BR" sz="1600" b="1" dirty="0"/>
              <a:t>LSTAT PTRATIO</a:t>
            </a:r>
            <a:r>
              <a:rPr lang="pt-BR" sz="1600" dirty="0"/>
              <a:t>: Produto entre as variáveis LSTAT e PTRATIO.</a:t>
            </a:r>
          </a:p>
          <a:p>
            <a:pPr lvl="1"/>
            <a:r>
              <a:rPr lang="pt-BR" sz="1600" b="1" dirty="0"/>
              <a:t>RAD^2</a:t>
            </a:r>
            <a:r>
              <a:rPr lang="pt-BR" sz="1600" dirty="0"/>
              <a:t>: Variável RAD elevada ao quadrado.</a:t>
            </a:r>
          </a:p>
          <a:p>
            <a:pPr lvl="1"/>
            <a:r>
              <a:rPr lang="pt-BR" sz="1600" b="1" dirty="0"/>
              <a:t>RAD RM</a:t>
            </a:r>
            <a:r>
              <a:rPr lang="pt-BR" sz="1600" dirty="0"/>
              <a:t>: Produto entre as variáveis RAD e RM.</a:t>
            </a:r>
          </a:p>
          <a:p>
            <a:pPr lvl="1"/>
            <a:r>
              <a:rPr lang="pt-BR" sz="1600" b="1" dirty="0"/>
              <a:t>RAD PTRATIO</a:t>
            </a:r>
            <a:r>
              <a:rPr lang="pt-BR" sz="1600" dirty="0"/>
              <a:t>: Produto entre as variáveis RAD e PTRATIO.</a:t>
            </a:r>
          </a:p>
          <a:p>
            <a:pPr lvl="1"/>
            <a:r>
              <a:rPr lang="pt-BR" sz="1600" b="1" dirty="0"/>
              <a:t>RM^2</a:t>
            </a:r>
            <a:r>
              <a:rPr lang="pt-BR" sz="1600" dirty="0"/>
              <a:t>: Variável RM^2 elevada ao quadrado.</a:t>
            </a:r>
          </a:p>
          <a:p>
            <a:pPr lvl="1"/>
            <a:r>
              <a:rPr lang="pt-BR" sz="1600" b="1" dirty="0"/>
              <a:t>RM PTRATIO</a:t>
            </a:r>
            <a:r>
              <a:rPr lang="pt-BR" sz="1600" dirty="0"/>
              <a:t>: Produto entre as variáveis RM e PTRATIO.</a:t>
            </a:r>
          </a:p>
          <a:p>
            <a:pPr lvl="1"/>
            <a:r>
              <a:rPr lang="pt-BR" sz="1600" b="1" dirty="0"/>
              <a:t>PTRATIO^2</a:t>
            </a:r>
            <a:r>
              <a:rPr lang="pt-BR" sz="1600" dirty="0"/>
              <a:t>: Variável PTRATIO^2 elevada ao quadrado.</a:t>
            </a:r>
          </a:p>
        </p:txBody>
      </p:sp>
    </p:spTree>
    <p:extLst>
      <p:ext uri="{BB962C8B-B14F-4D97-AF65-F5344CB8AC3E}">
        <p14:creationId xmlns:p14="http://schemas.microsoft.com/office/powerpoint/2010/main" val="5286117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4894CD-DFA2-7646-1C5C-55DB2A4A0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5E523D9-69D9-3FE8-8D4B-55DC884A72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1067A5-EE20-7092-91D4-9D392AEC1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0549BF-E522-BEB2-085D-644338DDCA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F4D577-7EA7-71B3-A9EF-93F94CA35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3A31C2E-659B-70DD-5405-69AD060544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AF0EEF-56AF-B3F8-D965-DDD955732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Escalonamento</a:t>
            </a:r>
            <a:r>
              <a:rPr lang="en-US" sz="4000" dirty="0">
                <a:solidFill>
                  <a:srgbClr val="FFFFFF"/>
                </a:solidFill>
              </a:rPr>
              <a:t>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3AB571-B350-3DCC-A1A6-07ACA998B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5308913" cy="3683358"/>
          </a:xfrm>
        </p:spPr>
        <p:txBody>
          <a:bodyPr anchor="ctr">
            <a:normAutofit/>
          </a:bodyPr>
          <a:lstStyle/>
          <a:p>
            <a:r>
              <a:rPr lang="pt-PT" sz="2000" b="1" dirty="0"/>
              <a:t>Justificativa</a:t>
            </a:r>
            <a:r>
              <a:rPr lang="pt-PT" sz="2000" dirty="0"/>
              <a:t>: </a:t>
            </a:r>
          </a:p>
          <a:p>
            <a:pPr lvl="1"/>
            <a:r>
              <a:rPr lang="pt-BR" sz="1600" dirty="0"/>
              <a:t>Variáveis originais: escala de dezenas</a:t>
            </a:r>
          </a:p>
          <a:p>
            <a:pPr lvl="1"/>
            <a:r>
              <a:rPr lang="pt-BR" sz="1600" dirty="0"/>
              <a:t>Variáveis de 2ª ordem: escala de centenas</a:t>
            </a:r>
          </a:p>
          <a:p>
            <a:pPr lvl="1"/>
            <a:r>
              <a:rPr lang="pt-BR" sz="1600" dirty="0"/>
              <a:t>Escalonamento é necessário em modelos sensíveis à escala (ex.: Regressão Linear)</a:t>
            </a:r>
          </a:p>
          <a:p>
            <a:r>
              <a:rPr lang="pt-BR" sz="2000" b="1" dirty="0"/>
              <a:t>Técnica</a:t>
            </a:r>
            <a:r>
              <a:rPr lang="pt-BR" sz="2000" dirty="0"/>
              <a:t>: </a:t>
            </a:r>
            <a:r>
              <a:rPr lang="pt-BR" sz="2000" dirty="0" err="1"/>
              <a:t>MinMaxScaler</a:t>
            </a:r>
            <a:r>
              <a:rPr lang="pt-BR" sz="2000" dirty="0"/>
              <a:t>()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2BE34D-5EC1-E28E-ED4F-80439848C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404" y="2210945"/>
            <a:ext cx="5308913" cy="33655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D97E8244-5E8B-9DD8-C36C-CB1DB4282469}"/>
              </a:ext>
            </a:extLst>
          </p:cNvPr>
          <p:cNvSpPr txBox="1"/>
          <p:nvPr/>
        </p:nvSpPr>
        <p:spPr>
          <a:xfrm>
            <a:off x="6623413" y="5696890"/>
            <a:ext cx="51788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/>
              <a:t>Esquemático</a:t>
            </a:r>
            <a:r>
              <a:rPr lang="en-US" sz="1400" dirty="0"/>
              <a:t> da Pipeline de Pré-</a:t>
            </a:r>
            <a:r>
              <a:rPr lang="en-US" sz="1400" dirty="0" err="1"/>
              <a:t>processamento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706249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D3DA5E-0D00-9AA3-C57A-60A7AE0B2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2">
            <a:extLst>
              <a:ext uri="{FF2B5EF4-FFF2-40B4-BE49-F238E27FC236}">
                <a16:creationId xmlns:a16="http://schemas.microsoft.com/office/drawing/2014/main" id="{40813DED-47C7-CB6A-31C3-0BBD3D0CA5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C732929B-6D02-673F-992E-D024BCEDB2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14CF0E2C-3682-B944-8010-FBCC2FC598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BB321EE4-BF20-E9E6-D0DA-5AEB198E2D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C2A1917-72F1-5278-1D3C-9EDCC9B544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E40C48-8725-89B0-DC2B-AFDD4DEE2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 err="1">
                <a:solidFill>
                  <a:srgbClr val="FFFFFF"/>
                </a:solidFill>
              </a:rPr>
              <a:t>Construção</a:t>
            </a:r>
            <a:r>
              <a:rPr lang="en-US" sz="4800" dirty="0">
                <a:solidFill>
                  <a:srgbClr val="FFFFFF"/>
                </a:solidFill>
              </a:rPr>
              <a:t> do </a:t>
            </a:r>
            <a:r>
              <a:rPr lang="en-US" sz="4800" dirty="0" err="1">
                <a:solidFill>
                  <a:srgbClr val="FFFFFF"/>
                </a:solidFill>
              </a:rPr>
              <a:t>Modelo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41847C51-42A6-CE55-EE13-01B4B20ABC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9998188-74A1-8FA2-DE1F-E805E2CE0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6034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52241-E8AA-466D-7928-1B50217B2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6D80C4E-0B5E-7276-EFED-75E35EB577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A64582-0C8E-9678-D165-5A9045442E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8B71590-E964-BEE6-EF4D-D224B5D4E8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DA0BA9-234B-AC87-5EE4-0FDBAD549B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3114CC9-1C4E-A1DE-67FB-05862EA7F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0C6D98-FAAE-B0BA-7959-89578F7AC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Seleção</a:t>
            </a:r>
            <a:r>
              <a:rPr lang="en-US" sz="4000" dirty="0">
                <a:solidFill>
                  <a:srgbClr val="FFFFFF"/>
                </a:solidFill>
              </a:rPr>
              <a:t> do </a:t>
            </a:r>
            <a:r>
              <a:rPr lang="en-US" sz="4000" dirty="0" err="1">
                <a:solidFill>
                  <a:srgbClr val="FFFFFF"/>
                </a:solidFill>
              </a:rPr>
              <a:t>Modelo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886A8BD-9697-3393-5E57-B4507800EF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5538867" cy="3683358"/>
          </a:xfrm>
        </p:spPr>
        <p:txBody>
          <a:bodyPr anchor="ctr">
            <a:normAutofit fontScale="92500"/>
          </a:bodyPr>
          <a:lstStyle/>
          <a:p>
            <a:r>
              <a:rPr lang="pt-BR" sz="2000" dirty="0"/>
              <a:t>Selecionados </a:t>
            </a:r>
            <a:r>
              <a:rPr lang="pt-BR" sz="2000" b="1" dirty="0"/>
              <a:t>4 candidatos</a:t>
            </a:r>
            <a:r>
              <a:rPr lang="pt-BR" sz="2000" dirty="0"/>
              <a:t> para o modelo final</a:t>
            </a:r>
          </a:p>
          <a:p>
            <a:pPr lvl="1"/>
            <a:r>
              <a:rPr lang="pt-BR" sz="1600" dirty="0" err="1"/>
              <a:t>RandomForrestRegressor</a:t>
            </a:r>
            <a:r>
              <a:rPr lang="pt-BR" sz="1600" dirty="0"/>
              <a:t>()</a:t>
            </a:r>
          </a:p>
          <a:p>
            <a:pPr lvl="1"/>
            <a:r>
              <a:rPr lang="pt-BR" sz="1600" dirty="0" err="1"/>
              <a:t>XBGRegressor</a:t>
            </a:r>
            <a:r>
              <a:rPr lang="pt-BR" sz="1600" dirty="0"/>
              <a:t>()</a:t>
            </a:r>
          </a:p>
          <a:p>
            <a:pPr lvl="1"/>
            <a:r>
              <a:rPr lang="pt-BR" sz="1600" dirty="0" err="1"/>
              <a:t>LinearRegression</a:t>
            </a:r>
            <a:r>
              <a:rPr lang="pt-BR" sz="1600" dirty="0"/>
              <a:t>()</a:t>
            </a:r>
          </a:p>
          <a:p>
            <a:pPr lvl="1"/>
            <a:r>
              <a:rPr lang="pt-BR" sz="1600" dirty="0" err="1"/>
              <a:t>DecisionTree</a:t>
            </a:r>
            <a:r>
              <a:rPr lang="pt-BR" sz="1600" dirty="0"/>
              <a:t>()</a:t>
            </a:r>
          </a:p>
          <a:p>
            <a:r>
              <a:rPr lang="pt-BR" sz="2000" dirty="0"/>
              <a:t>Utilizadas as </a:t>
            </a:r>
            <a:r>
              <a:rPr lang="pt-BR" sz="2000" b="1" dirty="0"/>
              <a:t>14 variáveis</a:t>
            </a:r>
            <a:r>
              <a:rPr lang="pt-BR" sz="2000" dirty="0"/>
              <a:t> disponíveis</a:t>
            </a:r>
          </a:p>
          <a:p>
            <a:r>
              <a:rPr lang="pt-BR" sz="2000" dirty="0"/>
              <a:t>Avaliação com </a:t>
            </a:r>
            <a:r>
              <a:rPr lang="pt-BR" sz="2000" b="1" dirty="0"/>
              <a:t>Cross-</a:t>
            </a:r>
            <a:r>
              <a:rPr lang="pt-BR" sz="2000" b="1" dirty="0" err="1"/>
              <a:t>validation</a:t>
            </a:r>
            <a:r>
              <a:rPr lang="pt-BR" sz="2000" dirty="0"/>
              <a:t>, considerando:</a:t>
            </a:r>
          </a:p>
          <a:p>
            <a:pPr lvl="1"/>
            <a:r>
              <a:rPr lang="pt-BR" sz="1600" b="1" dirty="0"/>
              <a:t>R² score</a:t>
            </a:r>
            <a:r>
              <a:rPr lang="pt-BR" sz="1600" dirty="0"/>
              <a:t> → proporção da variabilidade explicada</a:t>
            </a:r>
          </a:p>
          <a:p>
            <a:pPr lvl="1"/>
            <a:r>
              <a:rPr lang="pt-BR" sz="1600" b="1" dirty="0"/>
              <a:t>MAE</a:t>
            </a:r>
            <a:r>
              <a:rPr lang="pt-BR" sz="1600" dirty="0"/>
              <a:t> → erro médio absoluto (em milhares de dólares)</a:t>
            </a:r>
          </a:p>
          <a:p>
            <a:pPr lvl="1"/>
            <a:r>
              <a:rPr lang="pt-BR" sz="1600" b="1" dirty="0"/>
              <a:t>MSE</a:t>
            </a:r>
            <a:r>
              <a:rPr lang="pt-BR" sz="1600" dirty="0"/>
              <a:t> → erro médio quadrático (penaliza mais os erros grandes)</a:t>
            </a:r>
          </a:p>
          <a:p>
            <a:r>
              <a:rPr lang="pt-BR" sz="2000" dirty="0"/>
              <a:t>Modelo Selecionado: </a:t>
            </a:r>
            <a:r>
              <a:rPr lang="pt-BR" sz="2000" dirty="0" err="1"/>
              <a:t>RandomForrestRegressor</a:t>
            </a:r>
            <a:r>
              <a:rPr lang="pt-BR" sz="2000" dirty="0"/>
              <a:t>()</a:t>
            </a:r>
          </a:p>
          <a:p>
            <a:pPr marL="0" indent="0">
              <a:buNone/>
            </a:pPr>
            <a:endParaRPr lang="pt-BR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27EAEF7-D824-EBE3-FBFC-4D9606928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8" y="2521064"/>
            <a:ext cx="5996985" cy="1765818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7B0D231-4729-0E47-6B8A-68504467E32F}"/>
              </a:ext>
            </a:extLst>
          </p:cNvPr>
          <p:cNvSpPr txBox="1"/>
          <p:nvPr/>
        </p:nvSpPr>
        <p:spPr>
          <a:xfrm>
            <a:off x="7615183" y="5313326"/>
            <a:ext cx="346736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err="1"/>
              <a:t>Métricas</a:t>
            </a:r>
            <a:r>
              <a:rPr lang="en-US" dirty="0"/>
              <a:t> </a:t>
            </a:r>
            <a:r>
              <a:rPr lang="en-US" dirty="0" err="1"/>
              <a:t>calculadas</a:t>
            </a:r>
            <a:r>
              <a:rPr lang="en-US" dirty="0"/>
              <a:t> </a:t>
            </a:r>
            <a:r>
              <a:rPr lang="en-US" dirty="0" err="1"/>
              <a:t>considerando</a:t>
            </a:r>
            <a:r>
              <a:rPr lang="en-US" dirty="0"/>
              <a:t> 5 folds</a:t>
            </a:r>
          </a:p>
        </p:txBody>
      </p:sp>
      <p:sp>
        <p:nvSpPr>
          <p:cNvPr id="6" name="Seta para a Direita 5">
            <a:extLst>
              <a:ext uri="{FF2B5EF4-FFF2-40B4-BE49-F238E27FC236}">
                <a16:creationId xmlns:a16="http://schemas.microsoft.com/office/drawing/2014/main" id="{15BD52FA-5DA5-0DD8-40E2-2149A9D02E61}"/>
              </a:ext>
            </a:extLst>
          </p:cNvPr>
          <p:cNvSpPr/>
          <p:nvPr/>
        </p:nvSpPr>
        <p:spPr>
          <a:xfrm rot="16200000">
            <a:off x="8961763" y="4442831"/>
            <a:ext cx="774204" cy="437307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0000"/>
              </a:solidFill>
            </a:endParaRP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D559B97-1E6A-1134-C072-27FED7B87D85}"/>
              </a:ext>
            </a:extLst>
          </p:cNvPr>
          <p:cNvSpPr/>
          <p:nvPr/>
        </p:nvSpPr>
        <p:spPr>
          <a:xfrm>
            <a:off x="6265888" y="3387775"/>
            <a:ext cx="5726243" cy="149901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50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2B7A00-FF31-680A-74C3-F79547CFE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CC6AEB2-F4B7-2445-5854-045BF49618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9760CCF-1162-CD9C-FCF8-7CC5C65B1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715D23-8B2A-B0C5-46EE-436BC01626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5F84A4-C482-4D76-2CFB-79A53C0D7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E69332-9785-E6BB-DCF3-6DE072CD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58BF052-28A9-5103-4135-73AC06340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FFFFFF"/>
                </a:solidFill>
              </a:rPr>
              <a:t>Recursive Feature Elimination (RFE)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A818EB5-143A-5805-4A56-270D640A79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pt-BR" sz="2000" b="1" dirty="0"/>
              <a:t>Técnica de seleção de variáveis - RFE</a:t>
            </a:r>
          </a:p>
          <a:p>
            <a:r>
              <a:rPr lang="pt-BR" sz="2000" b="1" dirty="0"/>
              <a:t>Premissa</a:t>
            </a:r>
            <a:r>
              <a:rPr lang="pt-BR" sz="2000" dirty="0"/>
              <a:t>: A eliminação iterativa das variáveis menos importantes resulta em um subconjunto de features mais relevante, simplificando o modelo sem perda significativa de desempenho.</a:t>
            </a:r>
          </a:p>
          <a:p>
            <a:r>
              <a:rPr lang="pt-BR" sz="2000" b="1" dirty="0"/>
              <a:t>Funcionamento</a:t>
            </a:r>
            <a:r>
              <a:rPr lang="pt-BR" sz="2000" dirty="0"/>
              <a:t>:</a:t>
            </a:r>
          </a:p>
          <a:p>
            <a:pPr lvl="1"/>
            <a:r>
              <a:rPr lang="pt-BR" sz="1600" dirty="0"/>
              <a:t>O modelo é treinado usando todas as variáveis</a:t>
            </a:r>
          </a:p>
          <a:p>
            <a:pPr lvl="1"/>
            <a:r>
              <a:rPr lang="pt-BR" sz="1600" dirty="0"/>
              <a:t>Ranqueamos as features por importância no modelo</a:t>
            </a:r>
          </a:p>
          <a:p>
            <a:pPr lvl="1"/>
            <a:r>
              <a:rPr lang="pt-BR" sz="1600" dirty="0"/>
              <a:t>Eliminamos a variável menos importante</a:t>
            </a:r>
          </a:p>
          <a:p>
            <a:pPr lvl="1"/>
            <a:r>
              <a:rPr lang="pt-BR" sz="1600" dirty="0"/>
              <a:t>E repetimos o processo até que o número de variáveis desejado seja atingido.</a:t>
            </a:r>
          </a:p>
          <a:p>
            <a:r>
              <a:rPr lang="pt-BR" sz="2000" b="1" dirty="0"/>
              <a:t>Resultado</a:t>
            </a:r>
            <a:r>
              <a:rPr lang="pt-BR" sz="2000" dirty="0"/>
              <a:t>: </a:t>
            </a:r>
          </a:p>
          <a:p>
            <a:pPr lvl="1"/>
            <a:r>
              <a:rPr lang="pt-BR" sz="1600" b="1" dirty="0"/>
              <a:t>Variáveis Selecionadas</a:t>
            </a:r>
            <a:r>
              <a:rPr lang="pt-BR" sz="1600" dirty="0"/>
              <a:t>: LSTAT PTRATIO, RM^2, RM, LSTAT RAD, LSTAT, LSTAT^2 e PTRATIO RM.</a:t>
            </a:r>
          </a:p>
          <a:p>
            <a:pPr lvl="1"/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1775078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EE3233-A7E3-0CDF-346A-797AC65C6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4136E3A-2AFC-6162-F3B0-42F415A4E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12961D-D306-7D9D-4574-6847943FFF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98E24B8-5985-4C1B-FD7F-547BD8F8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71387AB-649B-AED3-CB7A-22875678C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99B9B0C-297B-A88A-AE4B-1BA0FB274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9A36AD3-6251-BF29-5E17-BF7849492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Modelo</a:t>
            </a:r>
            <a:r>
              <a:rPr lang="en-US" sz="4000" dirty="0">
                <a:solidFill>
                  <a:srgbClr val="FFFFFF"/>
                </a:solidFill>
              </a:rPr>
              <a:t> Final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CF1F927-91C1-75CE-E74A-E402DCBAEC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6063522" cy="3683358"/>
          </a:xfrm>
        </p:spPr>
        <p:txBody>
          <a:bodyPr anchor="ctr">
            <a:normAutofit fontScale="92500"/>
          </a:bodyPr>
          <a:lstStyle/>
          <a:p>
            <a:r>
              <a:rPr lang="pt-BR" sz="2200" b="1" dirty="0"/>
              <a:t>Treinamos o modelo comas variáveis selecionadas no RFE</a:t>
            </a:r>
            <a:endParaRPr lang="pt-BR" sz="2200" dirty="0"/>
          </a:p>
          <a:p>
            <a:r>
              <a:rPr lang="pt-BR" sz="2200" b="1" dirty="0"/>
              <a:t>Funcionamento:</a:t>
            </a:r>
          </a:p>
          <a:p>
            <a:pPr lvl="1"/>
            <a:r>
              <a:rPr lang="pt-BR" sz="2200" dirty="0"/>
              <a:t>Utiliza </a:t>
            </a:r>
            <a:r>
              <a:rPr lang="pt-BR" sz="2200" b="1" dirty="0" err="1"/>
              <a:t>bootstrap</a:t>
            </a:r>
            <a:r>
              <a:rPr lang="pt-BR" sz="2200" dirty="0"/>
              <a:t> (amostras com reposição)</a:t>
            </a:r>
          </a:p>
          <a:p>
            <a:pPr lvl="1"/>
            <a:r>
              <a:rPr lang="pt-BR" sz="2200" dirty="0"/>
              <a:t>Cada árvore é treinada com um </a:t>
            </a:r>
            <a:r>
              <a:rPr lang="pt-BR" sz="2200" b="1" dirty="0"/>
              <a:t>subconjunto de dados e de variáveis</a:t>
            </a:r>
            <a:endParaRPr lang="pt-BR" sz="2200" dirty="0"/>
          </a:p>
          <a:p>
            <a:pPr lvl="1"/>
            <a:r>
              <a:rPr lang="pt-BR" sz="2200" dirty="0"/>
              <a:t>As árvores aprendem a prever a variável alvo</a:t>
            </a:r>
          </a:p>
          <a:p>
            <a:pPr lvl="1"/>
            <a:r>
              <a:rPr lang="pt-BR" sz="2200" dirty="0"/>
              <a:t>As previsões são </a:t>
            </a:r>
            <a:r>
              <a:rPr lang="pt-BR" sz="2200" b="1" dirty="0"/>
              <a:t>agregadas</a:t>
            </a:r>
            <a:r>
              <a:rPr lang="pt-BR" sz="2200" dirty="0"/>
              <a:t>:</a:t>
            </a:r>
          </a:p>
          <a:p>
            <a:pPr lvl="1"/>
            <a:r>
              <a:rPr lang="pt-BR" sz="2200" dirty="0"/>
              <a:t>Regressão → média</a:t>
            </a:r>
          </a:p>
          <a:p>
            <a:pPr lvl="1"/>
            <a:r>
              <a:rPr lang="pt-BR" sz="2200" dirty="0"/>
              <a:t>Classificação → voto da maioria</a:t>
            </a:r>
          </a:p>
          <a:p>
            <a:pPr marL="0" indent="0">
              <a:buNone/>
            </a:pPr>
            <a:endParaRPr lang="pt-BR" sz="2000" b="1" dirty="0"/>
          </a:p>
          <a:p>
            <a:pPr lvl="1"/>
            <a:endParaRPr lang="pt-BR" sz="1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51844E3-96B2-BDA3-624C-77BB90C34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7117" y="1782393"/>
            <a:ext cx="3253284" cy="4781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8346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74A6AF2-16C8-AF7C-2BF0-A57FD2768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12">
            <a:extLst>
              <a:ext uri="{FF2B5EF4-FFF2-40B4-BE49-F238E27FC236}">
                <a16:creationId xmlns:a16="http://schemas.microsoft.com/office/drawing/2014/main" id="{EF18A6D4-4CBB-C5AF-78AE-579C6C6F20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4">
            <a:extLst>
              <a:ext uri="{FF2B5EF4-FFF2-40B4-BE49-F238E27FC236}">
                <a16:creationId xmlns:a16="http://schemas.microsoft.com/office/drawing/2014/main" id="{A6A173A0-F3AB-DA62-EF13-5C89E005AB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CF9C0476-73AE-CE94-C6B2-2FAA0A2D3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18">
            <a:extLst>
              <a:ext uri="{FF2B5EF4-FFF2-40B4-BE49-F238E27FC236}">
                <a16:creationId xmlns:a16="http://schemas.microsoft.com/office/drawing/2014/main" id="{E662E17B-7F17-0F19-B1C5-1A555BA7C3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79AC32-DFAA-90CE-6373-82D8300BA0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0EA8CF1-EFCD-BB17-DC4A-0A8F300B1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6596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dirty="0" err="1">
                <a:solidFill>
                  <a:srgbClr val="FFFFFF"/>
                </a:solidFill>
              </a:rPr>
              <a:t>Avaliação</a:t>
            </a:r>
            <a:r>
              <a:rPr lang="en-US" sz="4800" dirty="0">
                <a:solidFill>
                  <a:srgbClr val="FFFFFF"/>
                </a:solidFill>
              </a:rPr>
              <a:t> das </a:t>
            </a:r>
            <a:r>
              <a:rPr lang="en-US" sz="4800" dirty="0" err="1">
                <a:solidFill>
                  <a:srgbClr val="FFFFFF"/>
                </a:solidFill>
              </a:rPr>
              <a:t>Métricas</a:t>
            </a:r>
            <a:endParaRPr lang="en-US" sz="4800" b="1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1" name="Rectangle 22">
            <a:extLst>
              <a:ext uri="{FF2B5EF4-FFF2-40B4-BE49-F238E27FC236}">
                <a16:creationId xmlns:a16="http://schemas.microsoft.com/office/drawing/2014/main" id="{930B445D-D615-367A-7B6B-2B775DEADD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281133C-97D6-9C81-C173-E166CC773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006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FDEF5E-49CD-53EE-8621-70DEACD33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6F1B76-35B5-2758-C730-448DB43720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Métricas Avaliadas no Conjunto de Teste</a:t>
            </a:r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EB7AF679-BD4B-8229-DA4D-1FDDBCF589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2225" y="2988821"/>
            <a:ext cx="11327549" cy="2407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263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CFBB5-33D7-CBD8-B4E1-946B28495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A26051C-431D-52E9-FA35-462EACD3C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65B1BF5-1D61-EA87-990E-28979ECF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5E04500-E756-4D1B-41D1-F580B7E8E1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9F94D3-BE98-9CBE-37BB-EB396918A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4A5834-D50A-70AE-9335-B48CCC0DCD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FF8B28-F95E-E79E-F6C1-6E0635F1D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Importância</a:t>
            </a:r>
            <a:r>
              <a:rPr lang="en-US" sz="4000" dirty="0">
                <a:solidFill>
                  <a:srgbClr val="FFFFFF"/>
                </a:solidFill>
              </a:rPr>
              <a:t> de </a:t>
            </a:r>
            <a:r>
              <a:rPr lang="en-US" sz="4000" dirty="0" err="1">
                <a:solidFill>
                  <a:srgbClr val="FFFFFF"/>
                </a:solidFill>
              </a:rPr>
              <a:t>Permutação</a:t>
            </a:r>
            <a:endParaRPr lang="en-US" sz="4000" dirty="0">
              <a:solidFill>
                <a:srgbClr val="FFFFFF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FA2F67-C420-E8BC-2263-65F80826A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5537905" cy="3683358"/>
          </a:xfrm>
        </p:spPr>
        <p:txBody>
          <a:bodyPr anchor="ctr">
            <a:normAutofit/>
          </a:bodyPr>
          <a:lstStyle/>
          <a:p>
            <a:r>
              <a:rPr lang="pt-BR" sz="2000" b="1" dirty="0"/>
              <a:t>Funcionamento</a:t>
            </a:r>
            <a:r>
              <a:rPr lang="pt-BR" sz="2000" dirty="0"/>
              <a:t>:</a:t>
            </a:r>
          </a:p>
          <a:p>
            <a:pPr lvl="1"/>
            <a:r>
              <a:rPr lang="pt-BR" sz="1600" dirty="0"/>
              <a:t>Com o modelo já treinado</a:t>
            </a:r>
          </a:p>
          <a:p>
            <a:pPr lvl="1"/>
            <a:r>
              <a:rPr lang="pt-BR" sz="1600" dirty="0"/>
              <a:t>Embaralhamos os valores de </a:t>
            </a:r>
            <a:r>
              <a:rPr lang="pt-BR" sz="1600" b="1" dirty="0"/>
              <a:t>uma variável</a:t>
            </a:r>
            <a:r>
              <a:rPr lang="pt-BR" sz="1600" dirty="0"/>
              <a:t> e fazemos previsões.</a:t>
            </a:r>
          </a:p>
          <a:p>
            <a:pPr lvl="1"/>
            <a:r>
              <a:rPr lang="pt-BR" sz="1600" dirty="0"/>
              <a:t>A importância da variável é medida pela queda de desempenho do modelo ao embaralhar seus valores.</a:t>
            </a:r>
          </a:p>
          <a:p>
            <a:pPr lvl="1"/>
            <a:r>
              <a:rPr lang="pt-BR" sz="1600" dirty="0"/>
              <a:t>Quanto maior a queda, maior a importância da variável.</a:t>
            </a:r>
          </a:p>
          <a:p>
            <a:pPr lvl="1"/>
            <a:r>
              <a:rPr lang="pt-BR" sz="1600" dirty="0"/>
              <a:t>Restauramos a variável e repetimos o processo para todas as colunas.</a:t>
            </a:r>
          </a:p>
          <a:p>
            <a:pPr marL="0" indent="0">
              <a:buNone/>
            </a:pPr>
            <a:endParaRPr lang="pt-BR" sz="2000" b="1" dirty="0"/>
          </a:p>
          <a:p>
            <a:pPr lvl="1"/>
            <a:endParaRPr lang="pt-BR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49F16C9-CC5B-5B17-58C4-125F9B6CC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2064" y="2318197"/>
            <a:ext cx="4947396" cy="3062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52109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A2FE63-78ED-8465-91BD-6690F1E26D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D04614B-9C8F-62EB-F1DB-82F33DAE70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64EEC01-0D71-3C83-E753-0CE375E30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BE448B-1A59-2FA8-35CD-46375176C8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9E8EA5-4AB5-54CA-2AA0-014D6FB06D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A4ADFA5-F152-EF7E-5429-F22EBB9C3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E65FC66-055A-13D7-43C8-DC60980AF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 dirty="0" err="1">
                <a:solidFill>
                  <a:srgbClr val="FFFFFF"/>
                </a:solidFill>
              </a:rPr>
              <a:t>Sensibilidade</a:t>
            </a:r>
            <a:r>
              <a:rPr lang="en-US" sz="4000" dirty="0">
                <a:solidFill>
                  <a:srgbClr val="FFFFFF"/>
                </a:solidFill>
              </a:rPr>
              <a:t> Global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68E1A30-754C-1835-269E-2E3AB4F2D4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5537905" cy="3683358"/>
          </a:xfrm>
        </p:spPr>
        <p:txBody>
          <a:bodyPr anchor="ctr">
            <a:normAutofit/>
          </a:bodyPr>
          <a:lstStyle/>
          <a:p>
            <a:r>
              <a:rPr lang="pt-BR" sz="2000" b="1" dirty="0"/>
              <a:t>Funcionamento</a:t>
            </a:r>
            <a:r>
              <a:rPr lang="pt-BR" sz="2000" dirty="0"/>
              <a:t>:</a:t>
            </a:r>
          </a:p>
          <a:p>
            <a:pPr lvl="1"/>
            <a:r>
              <a:rPr lang="pt-BR" sz="1800" dirty="0"/>
              <a:t>Dividimos os dados em </a:t>
            </a:r>
            <a:r>
              <a:rPr lang="pt-BR" sz="1800" b="1" dirty="0"/>
              <a:t>5 </a:t>
            </a:r>
            <a:r>
              <a:rPr lang="pt-BR" sz="1800" b="1" dirty="0" err="1"/>
              <a:t>folds</a:t>
            </a:r>
            <a:endParaRPr lang="pt-BR" sz="1800" dirty="0"/>
          </a:p>
          <a:p>
            <a:pPr lvl="1"/>
            <a:r>
              <a:rPr lang="pt-BR" sz="1800" dirty="0"/>
              <a:t>Aplicamos </a:t>
            </a:r>
            <a:r>
              <a:rPr lang="pt-BR" sz="1800" b="1" dirty="0" err="1"/>
              <a:t>cross-validation</a:t>
            </a:r>
            <a:r>
              <a:rPr lang="pt-BR" sz="1800" dirty="0"/>
              <a:t> e calculamos as métricas (R², MAE, MSE)</a:t>
            </a:r>
          </a:p>
          <a:p>
            <a:pPr lvl="1"/>
            <a:r>
              <a:rPr lang="pt-BR" sz="1800" dirty="0"/>
              <a:t>Geramos o </a:t>
            </a:r>
            <a:r>
              <a:rPr lang="pt-BR" sz="1800" b="1" dirty="0" err="1"/>
              <a:t>boxplot</a:t>
            </a:r>
            <a:r>
              <a:rPr lang="pt-BR" sz="1800" b="1" dirty="0"/>
              <a:t> das métricas</a:t>
            </a:r>
            <a:r>
              <a:rPr lang="pt-BR" sz="1800" dirty="0"/>
              <a:t> por </a:t>
            </a:r>
            <a:r>
              <a:rPr lang="pt-BR" sz="1800" dirty="0" err="1"/>
              <a:t>fold</a:t>
            </a:r>
            <a:endParaRPr lang="pt-BR" sz="1800" dirty="0"/>
          </a:p>
          <a:p>
            <a:pPr lvl="1"/>
            <a:r>
              <a:rPr lang="pt-BR" sz="1800" b="1" dirty="0"/>
              <a:t>Padronizamos as métricas (</a:t>
            </a:r>
            <a:r>
              <a:rPr lang="pt-BR" sz="1800" b="1" dirty="0" err="1"/>
              <a:t>z</a:t>
            </a:r>
            <a:r>
              <a:rPr lang="pt-BR" sz="1800" b="1" dirty="0"/>
              <a:t>-score)</a:t>
            </a:r>
            <a:r>
              <a:rPr lang="pt-BR" sz="1800" dirty="0"/>
              <a:t> para comparar suas distribuições</a:t>
            </a:r>
          </a:p>
          <a:p>
            <a:pPr lvl="1"/>
            <a:r>
              <a:rPr lang="pt-BR" sz="1800" dirty="0"/>
              <a:t>Quanto mais compacto o </a:t>
            </a:r>
            <a:r>
              <a:rPr lang="pt-BR" sz="1800" dirty="0" err="1"/>
              <a:t>boxplot</a:t>
            </a:r>
            <a:r>
              <a:rPr lang="pt-BR" sz="1800" dirty="0"/>
              <a:t>, mais estável a métrica. (Menor sensibilidade </a:t>
            </a:r>
            <a:r>
              <a:rPr lang="pt-BR" sz="1800"/>
              <a:t>às divisões dos dados).</a:t>
            </a:r>
            <a:endParaRPr lang="pt-BR" sz="1800" dirty="0"/>
          </a:p>
          <a:p>
            <a:pPr marL="0" indent="0">
              <a:buNone/>
            </a:pPr>
            <a:endParaRPr lang="pt-BR" sz="2000" b="1" dirty="0"/>
          </a:p>
          <a:p>
            <a:pPr lvl="1"/>
            <a:endParaRPr lang="pt-BR" sz="1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0E3AC68-314A-6947-52FE-37131E8337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3870" y="1691246"/>
            <a:ext cx="3493680" cy="2393629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D07F603-71D4-A472-DD4C-662BC1A05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902" y="4266762"/>
            <a:ext cx="3598648" cy="240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12178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3239</TotalTime>
  <Words>1312</Words>
  <Application>Microsoft Macintosh PowerPoint</Application>
  <PresentationFormat>Widescreen</PresentationFormat>
  <Paragraphs>178</Paragraphs>
  <Slides>24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Tema do Office</vt:lpstr>
      <vt:lpstr>Projeto: Modelo de Predição de Preços de imóveis</vt:lpstr>
      <vt:lpstr>Contextualização do problema</vt:lpstr>
      <vt:lpstr>Framework Técnico</vt:lpstr>
      <vt:lpstr>Fluxo do Projeto</vt:lpstr>
      <vt:lpstr>Exploração dos Dados</vt:lpstr>
      <vt:lpstr>Entendimento dos Dados</vt:lpstr>
      <vt:lpstr>Desafios Encontrados</vt:lpstr>
      <vt:lpstr>Análise Exploratória</vt:lpstr>
      <vt:lpstr>Detcção de Outliers</vt:lpstr>
      <vt:lpstr>Pré-processamento</vt:lpstr>
      <vt:lpstr>Banco de Filtros</vt:lpstr>
      <vt:lpstr>Avaliando as Variáveis Selecionadas</vt:lpstr>
      <vt:lpstr>Avaliando as Variáveis Selecionadas (Cont)</vt:lpstr>
      <vt:lpstr>Transformação de Variáveis</vt:lpstr>
      <vt:lpstr>Criação de novas variáveis</vt:lpstr>
      <vt:lpstr>Escalonamento dos Dados</vt:lpstr>
      <vt:lpstr>Construção do Modelo</vt:lpstr>
      <vt:lpstr>Seleção do Modelo</vt:lpstr>
      <vt:lpstr>Recursive Feature Elimination (RFE)</vt:lpstr>
      <vt:lpstr>Modelo Final</vt:lpstr>
      <vt:lpstr>Avaliação das Métricas</vt:lpstr>
      <vt:lpstr>Métricas Avaliadas no Conjunto de Teste</vt:lpstr>
      <vt:lpstr>Importância de Permutação</vt:lpstr>
      <vt:lpstr>Sensibilidade Global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Michel Gonzaga dos Santos</dc:creator>
  <cp:lastModifiedBy>Michel Gonzaga dos Santos</cp:lastModifiedBy>
  <cp:revision>5</cp:revision>
  <dcterms:created xsi:type="dcterms:W3CDTF">2025-09-06T18:43:26Z</dcterms:created>
  <dcterms:modified xsi:type="dcterms:W3CDTF">2025-09-09T00:42:48Z</dcterms:modified>
</cp:coreProperties>
</file>